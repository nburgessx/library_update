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444" r:id="rId5"/>
    <p:sldId id="469" r:id="rId6"/>
    <p:sldId id="468" r:id="rId7"/>
    <p:sldId id="470" r:id="rId8"/>
    <p:sldId id="471" r:id="rId9"/>
    <p:sldId id="473" r:id="rId10"/>
    <p:sldId id="475" r:id="rId11"/>
    <p:sldId id="476" r:id="rId12"/>
    <p:sldId id="477" r:id="rId13"/>
    <p:sldId id="478" r:id="rId14"/>
    <p:sldId id="479" r:id="rId15"/>
    <p:sldId id="480" r:id="rId16"/>
    <p:sldId id="486" r:id="rId17"/>
    <p:sldId id="487" r:id="rId18"/>
    <p:sldId id="488" r:id="rId19"/>
    <p:sldId id="481" r:id="rId20"/>
    <p:sldId id="482" r:id="rId21"/>
    <p:sldId id="483" r:id="rId22"/>
    <p:sldId id="484" r:id="rId23"/>
    <p:sldId id="485" r:id="rId24"/>
  </p:sldIdLst>
  <p:sldSz cx="9906000" cy="6858000" type="A4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936">
          <p15:clr>
            <a:srgbClr val="A4A3A4"/>
          </p15:clr>
        </p15:guide>
        <p15:guide id="2" orient="horz" pos="2256">
          <p15:clr>
            <a:srgbClr val="A4A3A4"/>
          </p15:clr>
        </p15:guide>
        <p15:guide id="3" orient="horz" pos="576">
          <p15:clr>
            <a:srgbClr val="A4A3A4"/>
          </p15:clr>
        </p15:guide>
        <p15:guide id="4" pos="3027">
          <p15:clr>
            <a:srgbClr val="A4A3A4"/>
          </p15:clr>
        </p15:guide>
        <p15:guide id="5" pos="5928">
          <p15:clr>
            <a:srgbClr val="A4A3A4"/>
          </p15:clr>
        </p15:guide>
        <p15:guide id="6" pos="312">
          <p15:clr>
            <a:srgbClr val="A4A3A4"/>
          </p15:clr>
        </p15:guide>
        <p15:guide id="7" pos="3213">
          <p15:clr>
            <a:srgbClr val="A4A3A4"/>
          </p15:clr>
        </p15:guide>
        <p15:guide id="8" pos="2059">
          <p15:clr>
            <a:srgbClr val="A4A3A4"/>
          </p15:clr>
        </p15:guide>
        <p15:guide id="9" pos="2247">
          <p15:clr>
            <a:srgbClr val="A4A3A4"/>
          </p15:clr>
        </p15:guide>
        <p15:guide id="10" pos="3993">
          <p15:clr>
            <a:srgbClr val="A4A3A4"/>
          </p15:clr>
        </p15:guide>
        <p15:guide id="11" pos="418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E60000"/>
    <a:srgbClr val="666666"/>
    <a:srgbClr val="0A50A0"/>
    <a:srgbClr val="007FBA"/>
    <a:srgbClr val="404040"/>
    <a:srgbClr val="999999"/>
    <a:srgbClr val="EEEEEE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9F5F41-C86B-47C9-9050-37B9ECDAC1C1}">
  <a:tblStyle styleId="{879F5F41-C86B-47C9-9050-37B9ECDAC1C1}" styleName="Mizuho Table">
    <a:wholeTbl>
      <a:tcTxStyle>
        <a:fontRef idx="minor"/>
        <a:srgbClr val="40404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404040"/>
              </a:solidFill>
            </a:ln>
          </a:top>
          <a:bottom>
            <a:ln w="6350">
              <a:solidFill>
                <a:srgbClr val="404040"/>
              </a:solidFill>
            </a:ln>
          </a:bottom>
          <a:insideH>
            <a:ln w="6350">
              <a:solidFill>
                <a:srgbClr val="404040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CCCCCC"/>
          </a:solidFill>
        </a:fill>
      </a:tcStyle>
    </a:band1H>
    <a:band2H>
      <a:tcStyle>
        <a:tcBdr/>
        <a:fill>
          <a:noFill/>
        </a:fill>
      </a:tcStyle>
    </a:band2H>
    <a:band1V>
      <a:tcStyle>
        <a:tcBdr/>
        <a:fill>
          <a:solidFill>
            <a:srgbClr val="CCCCCC"/>
          </a:solidFill>
        </a:fill>
      </a:tcStyle>
    </a:band1V>
    <a:band2V>
      <a:tcStyle>
        <a:tcBdr/>
        <a:fill>
          <a:noFill/>
        </a:fill>
      </a:tcStyle>
    </a:band2V>
    <a:lastCol>
      <a:tcTxStyle b="on">
        <a:fontRef idx="major"/>
        <a:srgbClr val="404040"/>
      </a:tcTxStyle>
      <a:tcStyle>
        <a:tcBdr/>
      </a:tcStyle>
    </a:lastCol>
    <a:firstCol>
      <a:tcTxStyle b="on">
        <a:fontRef idx="major"/>
        <a:srgbClr val="404040"/>
      </a:tcTxStyle>
      <a:tcStyle>
        <a:tcBdr/>
      </a:tcStyle>
    </a:firstCol>
    <a:lastRow>
      <a:tcTxStyle b="on">
        <a:fontRef idx="major"/>
        <a:srgbClr val="404040"/>
      </a:tcTxStyle>
      <a:tcStyle>
        <a:tcBdr>
          <a:top>
            <a:ln w="25400">
              <a:solidFill>
                <a:srgbClr val="404040"/>
              </a:solidFill>
            </a:ln>
          </a:top>
          <a:bottom>
            <a:ln>
              <a:noFill/>
            </a:ln>
          </a:bottom>
        </a:tcBdr>
        <a:fill>
          <a:noFill/>
        </a:fill>
      </a:tcStyle>
    </a:lastRow>
    <a:firstRow>
      <a:tcTxStyle b="on">
        <a:fontRef idx="major"/>
        <a:srgbClr val="404040"/>
      </a:tcTxStyle>
      <a:tcStyle>
        <a:tcBdr>
          <a:top>
            <a:ln>
              <a:noFill/>
            </a:ln>
          </a:top>
          <a:bottom>
            <a:ln w="25400">
              <a:solidFill>
                <a:srgbClr val="404040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61" autoAdjust="0"/>
    <p:restoredTop sz="81296" autoAdjust="0"/>
  </p:normalViewPr>
  <p:slideViewPr>
    <p:cSldViewPr snapToObjects="1" showGuides="1">
      <p:cViewPr>
        <p:scale>
          <a:sx n="120" d="100"/>
          <a:sy n="120" d="100"/>
        </p:scale>
        <p:origin x="-1458" y="-396"/>
      </p:cViewPr>
      <p:guideLst>
        <p:guide orient="horz" pos="3936"/>
        <p:guide orient="horz" pos="2256"/>
        <p:guide orient="horz" pos="576"/>
        <p:guide pos="3027"/>
        <p:guide pos="5928"/>
        <p:guide pos="312"/>
        <p:guide pos="3213"/>
        <p:guide pos="2059"/>
        <p:guide pos="2247"/>
        <p:guide pos="3993"/>
        <p:guide pos="41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78" d="100"/>
          <a:sy n="78" d="100"/>
        </p:scale>
        <p:origin x="-1998" y="-102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93A8D33C-7262-FA45-8132-7C06B2AE171D}" type="datetimeFigureOut">
              <a:rPr lang="en-US" smtClean="0">
                <a:latin typeface="Arial"/>
              </a:rPr>
              <a:pPr/>
              <a:t>7/12/2019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71095A5B-A02C-0045-BA90-83F79C1CEF63}" type="slidenum">
              <a:rPr lang="en-US" smtClean="0">
                <a:latin typeface="Arial"/>
              </a:rPr>
              <a:pPr/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24136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/>
              </a:defRPr>
            </a:lvl1pPr>
          </a:lstStyle>
          <a:p>
            <a:fld id="{42239614-68A2-B145-83D6-9508BADB8B11}" type="datetimeFigureOut">
              <a:rPr lang="en-US" smtClean="0"/>
              <a:pPr/>
              <a:t>7/12/2019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692150"/>
            <a:ext cx="5000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/>
              </a:defRPr>
            </a:lvl1pPr>
          </a:lstStyle>
          <a:p>
            <a:fld id="{91AA9BE4-5103-0B4A-B9FD-498748EB10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385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1600200"/>
            <a:ext cx="8915400" cy="18288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301" y="3611879"/>
            <a:ext cx="584385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20" name="Picture 19" title="One Mizuho: Building the future with you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267704" y="6222354"/>
            <a:ext cx="1210056" cy="356616"/>
          </a:xfrm>
          <a:prstGeom prst="rect">
            <a:avLst/>
          </a:prstGeom>
        </p:spPr>
      </p:pic>
      <p:pic>
        <p:nvPicPr>
          <p:cNvPr id="11" name="Picture 10" title="Mizuh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0465" y="295275"/>
            <a:ext cx="2048396" cy="758952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495300" y="3520439"/>
            <a:ext cx="8915400" cy="0"/>
          </a:xfrm>
          <a:prstGeom prst="line">
            <a:avLst/>
          </a:prstGeom>
          <a:ln w="19050" cmpd="sng">
            <a:solidFill>
              <a:srgbClr val="1400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5300" y="4937759"/>
            <a:ext cx="584385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/>
            </a:lvl1pPr>
            <a:lvl2pPr marL="0" indent="0">
              <a:spcBef>
                <a:spcPts val="0"/>
              </a:spcBef>
              <a:buNone/>
              <a:defRPr sz="1400"/>
            </a:lvl2pPr>
            <a:lvl3pPr marL="0" indent="0">
              <a:spcBef>
                <a:spcPts val="0"/>
              </a:spcBef>
              <a:buNone/>
              <a:defRPr sz="1400"/>
            </a:lvl3pPr>
            <a:lvl4pPr marL="0" indent="0">
              <a:spcBef>
                <a:spcPts val="0"/>
              </a:spcBef>
              <a:buNone/>
              <a:defRPr sz="1400"/>
            </a:lvl4pPr>
            <a:lvl5pPr marL="0" indent="0"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 smtClean="0"/>
              <a:t>Additional information can go here</a:t>
            </a:r>
            <a:endParaRPr lang="en-US" dirty="0"/>
          </a:p>
        </p:txBody>
      </p: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495299" y="6309360"/>
            <a:ext cx="5844540" cy="228600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smtClean="0"/>
              <a:t>Private </a:t>
            </a:r>
            <a:r>
              <a:rPr lang="en-US" sz="1100" dirty="0" smtClean="0"/>
              <a:t>and confidential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835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0"/>
            <a:ext cx="9916156" cy="6867144"/>
            <a:chOff x="0" y="0"/>
            <a:chExt cx="9916156" cy="6867144"/>
          </a:xfrm>
        </p:grpSpPr>
        <p:pic>
          <p:nvPicPr>
            <p:cNvPr id="1026" name="Picture 2" descr="C:\Users\IC0415\Desktop\Design\Projects\160009_160011 PPT Template\MizuhoLogoPreferredReverse_Screen_BlueBG_A4.png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916156" cy="6867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title="One Mizuho: Building the future with you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hidden">
            <a:xfrm>
              <a:off x="8266176" y="6227064"/>
              <a:ext cx="1210056" cy="35661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1600201"/>
            <a:ext cx="8915400" cy="18288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301" y="3611880"/>
            <a:ext cx="584385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495300" y="3520440"/>
            <a:ext cx="8915400" cy="0"/>
          </a:xfrm>
          <a:prstGeom prst="line">
            <a:avLst/>
          </a:prstGeom>
          <a:ln w="1905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5300" y="4937760"/>
            <a:ext cx="584385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400"/>
            </a:lvl2pPr>
            <a:lvl3pPr marL="0" indent="0">
              <a:spcBef>
                <a:spcPts val="0"/>
              </a:spcBef>
              <a:buNone/>
              <a:defRPr sz="1400"/>
            </a:lvl3pPr>
            <a:lvl4pPr marL="0" indent="0">
              <a:spcBef>
                <a:spcPts val="0"/>
              </a:spcBef>
              <a:buNone/>
              <a:defRPr sz="1400"/>
            </a:lvl4pPr>
            <a:lvl5pPr marL="0" indent="0"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 smtClean="0"/>
              <a:t>Additional information can go here</a:t>
            </a:r>
            <a:endParaRPr lang="en-US" dirty="0"/>
          </a:p>
        </p:txBody>
      </p: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495299" y="6309360"/>
            <a:ext cx="5844540" cy="228600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smtClean="0">
                <a:solidFill>
                  <a:schemeClr val="bg1"/>
                </a:solidFill>
              </a:rPr>
              <a:t>Private </a:t>
            </a:r>
            <a:r>
              <a:rPr lang="en-US" sz="1100" dirty="0" smtClean="0">
                <a:solidFill>
                  <a:schemeClr val="bg1"/>
                </a:solidFill>
              </a:rPr>
              <a:t>and confidential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4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randing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1600200"/>
            <a:ext cx="8915400" cy="18288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301" y="3611879"/>
            <a:ext cx="584385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20" name="Picture 19" title="One Mizuho: Building the future with you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82356" y="6222354"/>
            <a:ext cx="1210056" cy="356616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495300" y="3520439"/>
            <a:ext cx="8915400" cy="0"/>
          </a:xfrm>
          <a:prstGeom prst="line">
            <a:avLst/>
          </a:prstGeom>
          <a:ln w="19050" cmpd="sng">
            <a:solidFill>
              <a:srgbClr val="1400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5300" y="4937759"/>
            <a:ext cx="5843852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/>
            </a:lvl1pPr>
            <a:lvl2pPr marL="0" indent="0">
              <a:spcBef>
                <a:spcPts val="0"/>
              </a:spcBef>
              <a:buNone/>
              <a:defRPr sz="1400"/>
            </a:lvl2pPr>
            <a:lvl3pPr marL="0" indent="0">
              <a:spcBef>
                <a:spcPts val="0"/>
              </a:spcBef>
              <a:buNone/>
              <a:defRPr sz="1400"/>
            </a:lvl3pPr>
            <a:lvl4pPr marL="0" indent="0">
              <a:spcBef>
                <a:spcPts val="0"/>
              </a:spcBef>
              <a:buNone/>
              <a:defRPr sz="1400"/>
            </a:lvl4pPr>
            <a:lvl5pPr marL="0" indent="0">
              <a:spcBef>
                <a:spcPts val="0"/>
              </a:spcBef>
              <a:buNone/>
              <a:defRPr sz="1400"/>
            </a:lvl5pPr>
          </a:lstStyle>
          <a:p>
            <a:pPr lvl="0"/>
            <a:r>
              <a:rPr lang="en-US" dirty="0" smtClean="0"/>
              <a:t>Additional information can go here</a:t>
            </a:r>
            <a:endParaRPr lang="en-US" dirty="0"/>
          </a:p>
        </p:txBody>
      </p:sp>
      <p:sp>
        <p:nvSpPr>
          <p:cNvPr id="21" name="Footer Placeholder 4"/>
          <p:cNvSpPr txBox="1">
            <a:spLocks/>
          </p:cNvSpPr>
          <p:nvPr userDrawn="1"/>
        </p:nvSpPr>
        <p:spPr>
          <a:xfrm>
            <a:off x="495299" y="6309360"/>
            <a:ext cx="5844540" cy="228600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smtClean="0"/>
              <a:t>Private </a:t>
            </a:r>
            <a:r>
              <a:rPr lang="en-US" sz="1100" dirty="0" smtClean="0"/>
              <a:t>and confidential</a:t>
            </a:r>
            <a:endParaRPr lang="en-US" sz="110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9906000" cy="578644"/>
          </a:xfrm>
          <a:prstGeom prst="rect">
            <a:avLst/>
          </a:prstGeom>
          <a:gradFill>
            <a:gsLst>
              <a:gs pos="0">
                <a:srgbClr val="140078"/>
              </a:gs>
              <a:gs pos="50000">
                <a:srgbClr val="140078"/>
              </a:gs>
              <a:gs pos="100000">
                <a:srgbClr val="647DD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pic>
        <p:nvPicPr>
          <p:cNvPr id="1027" name="Picture 3" descr="C:\Users\IC0415\Desktop\Design\Assets\Logos (Mizuho)\PNGs\MizuhoLogoPreferredReverse_ArcRed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27" y="132213"/>
            <a:ext cx="1341705" cy="37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0" y="578644"/>
            <a:ext cx="9906000" cy="138906"/>
          </a:xfrm>
          <a:prstGeom prst="rect">
            <a:avLst/>
          </a:prstGeom>
          <a:solidFill>
            <a:srgbClr val="140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pic>
        <p:nvPicPr>
          <p:cNvPr id="1029" name="Picture 5" descr="C:\Users\IC0415\Desktop\Design\Assets\Logos (Mizuho)\OneMizuho\Asset 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63188" y="590551"/>
            <a:ext cx="796972" cy="10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53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495301" y="1600200"/>
            <a:ext cx="5843852" cy="18288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95301" y="3566159"/>
            <a:ext cx="5843852" cy="548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95300" y="6400800"/>
            <a:ext cx="8915400" cy="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 bwMode="gray">
          <a:xfrm>
            <a:off x="8915400" y="6492240"/>
            <a:ext cx="990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title="Mizuh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2431" y="6471237"/>
            <a:ext cx="839102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460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495301" y="1600200"/>
            <a:ext cx="5843852" cy="18288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825501" y="3566159"/>
            <a:ext cx="5513652" cy="548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95300" y="6400800"/>
            <a:ext cx="8915400" cy="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 bwMode="gray">
          <a:xfrm>
            <a:off x="8915400" y="6492240"/>
            <a:ext cx="990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title="Mizuh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2431" y="6471237"/>
            <a:ext cx="839102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30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1" y="914401"/>
            <a:ext cx="8915400" cy="5303023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78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1" y="914401"/>
            <a:ext cx="8915400" cy="5303023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568325" indent="-222250">
              <a:buFont typeface="+mj-lt"/>
              <a:buAutoNum type="alphaUcPeriod"/>
              <a:defRPr/>
            </a:lvl2pPr>
            <a:lvl3pPr marL="798513" indent="-230188">
              <a:buFont typeface="+mj-lt"/>
              <a:buAutoNum type="arabicParenR"/>
              <a:defRPr/>
            </a:lvl3pPr>
            <a:lvl4pPr marL="1030288" indent="-231775">
              <a:buFont typeface="+mj-lt"/>
              <a:buAutoNum type="alphaLcParenR"/>
              <a:defRPr/>
            </a:lvl4pPr>
            <a:lvl5pPr marL="1260475" indent="-230188">
              <a:buFont typeface="+mj-lt"/>
              <a:buAutoNum type="romanLcPeriod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51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95301" y="914401"/>
            <a:ext cx="8915400" cy="5303023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0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0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95302" y="914401"/>
            <a:ext cx="4292599" cy="5303023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5098676" y="914401"/>
            <a:ext cx="4292600" cy="5303023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81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0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95301" y="914400"/>
            <a:ext cx="4309110" cy="2392362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5101591" y="914400"/>
            <a:ext cx="4309110" cy="2392362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95206" y="3581400"/>
            <a:ext cx="4309110" cy="2392362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5102166" y="3581400"/>
            <a:ext cx="4309110" cy="2392362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7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1"/>
          </p:nvPr>
        </p:nvSpPr>
        <p:spPr>
          <a:xfrm>
            <a:off x="495300" y="914400"/>
            <a:ext cx="430911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5101590" y="914400"/>
            <a:ext cx="430911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304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1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495206" y="914400"/>
            <a:ext cx="277368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4"/>
          </p:nvPr>
        </p:nvSpPr>
        <p:spPr>
          <a:xfrm>
            <a:off x="3582670" y="914400"/>
            <a:ext cx="277368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5"/>
          </p:nvPr>
        </p:nvSpPr>
        <p:spPr>
          <a:xfrm>
            <a:off x="6637021" y="914400"/>
            <a:ext cx="277368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1085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1"/>
          </p:nvPr>
        </p:nvSpPr>
        <p:spPr>
          <a:xfrm>
            <a:off x="495394" y="914400"/>
            <a:ext cx="1980913" cy="5303838"/>
          </a:xfrm>
          <a:prstGeom prst="rect">
            <a:avLst/>
          </a:prstGeom>
        </p:spPr>
        <p:txBody>
          <a:bodyPr/>
          <a:lstStyle>
            <a:lvl1pPr marL="168275" indent="-168275">
              <a:defRPr sz="1400"/>
            </a:lvl1pPr>
            <a:lvl2pPr marL="346075" indent="-169863">
              <a:defRPr sz="1200"/>
            </a:lvl2pPr>
            <a:lvl3pPr marL="514350" indent="-169863">
              <a:buFont typeface="Courier New" panose="02070309020205020404" pitchFamily="49" charset="0"/>
              <a:buChar char="o"/>
              <a:defRPr sz="1100"/>
            </a:lvl3pPr>
            <a:lvl4pPr marL="630238" indent="-115888">
              <a:buFont typeface="Arial" panose="020B0604020202020204" pitchFamily="34" charset="0"/>
              <a:buChar char="»"/>
              <a:defRPr sz="1000"/>
            </a:lvl4pPr>
            <a:lvl5pPr marL="746125" indent="-112713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2816413" y="914400"/>
            <a:ext cx="1980913" cy="5303838"/>
          </a:xfrm>
          <a:prstGeom prst="rect">
            <a:avLst/>
          </a:prstGeom>
        </p:spPr>
        <p:txBody>
          <a:bodyPr/>
          <a:lstStyle>
            <a:lvl1pPr marL="168275" indent="-168275">
              <a:defRPr sz="1400"/>
            </a:lvl1pPr>
            <a:lvl2pPr marL="346075" indent="-169863">
              <a:defRPr sz="1200"/>
            </a:lvl2pPr>
            <a:lvl3pPr marL="514350" indent="-169863">
              <a:buFont typeface="Courier New" panose="02070309020205020404" pitchFamily="49" charset="0"/>
              <a:buChar char="o"/>
              <a:defRPr sz="1100"/>
            </a:lvl3pPr>
            <a:lvl4pPr marL="630238" indent="-115888">
              <a:buFont typeface="Arial" panose="020B0604020202020204" pitchFamily="34" charset="0"/>
              <a:buChar char="»"/>
              <a:defRPr sz="1000"/>
            </a:lvl4pPr>
            <a:lvl5pPr marL="746125" indent="-112713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5099151" y="914400"/>
            <a:ext cx="1980913" cy="5303838"/>
          </a:xfrm>
          <a:prstGeom prst="rect">
            <a:avLst/>
          </a:prstGeom>
        </p:spPr>
        <p:txBody>
          <a:bodyPr/>
          <a:lstStyle>
            <a:lvl1pPr marL="168275" indent="-168275">
              <a:defRPr sz="1400"/>
            </a:lvl1pPr>
            <a:lvl2pPr marL="346075" indent="-169863">
              <a:defRPr sz="1200"/>
            </a:lvl2pPr>
            <a:lvl3pPr marL="514350" indent="-169863">
              <a:buFont typeface="Courier New" panose="02070309020205020404" pitchFamily="49" charset="0"/>
              <a:buChar char="o"/>
              <a:defRPr sz="1100"/>
            </a:lvl3pPr>
            <a:lvl4pPr marL="630238" indent="-115888">
              <a:buFont typeface="Arial" panose="020B0604020202020204" pitchFamily="34" charset="0"/>
              <a:buChar char="»"/>
              <a:defRPr sz="1000"/>
            </a:lvl4pPr>
            <a:lvl5pPr marL="746125" indent="-112713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7420264" y="914400"/>
            <a:ext cx="1980913" cy="5303838"/>
          </a:xfrm>
          <a:prstGeom prst="rect">
            <a:avLst/>
          </a:prstGeom>
        </p:spPr>
        <p:txBody>
          <a:bodyPr/>
          <a:lstStyle>
            <a:lvl1pPr marL="168275" indent="-168275">
              <a:defRPr sz="1400"/>
            </a:lvl1pPr>
            <a:lvl2pPr marL="346075" indent="-169863">
              <a:defRPr sz="1200"/>
            </a:lvl2pPr>
            <a:lvl3pPr marL="514350" indent="-169863">
              <a:buFont typeface="Courier New" panose="02070309020205020404" pitchFamily="49" charset="0"/>
              <a:buChar char="o"/>
              <a:defRPr sz="1100"/>
            </a:lvl3pPr>
            <a:lvl4pPr marL="630238" indent="-115888">
              <a:buFont typeface="Arial" panose="020B0604020202020204" pitchFamily="34" charset="0"/>
              <a:buChar char="»"/>
              <a:defRPr sz="1000"/>
            </a:lvl4pPr>
            <a:lvl5pPr marL="746125" indent="-112713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821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1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95300" y="914400"/>
            <a:ext cx="5844539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5"/>
          </p:nvPr>
        </p:nvSpPr>
        <p:spPr>
          <a:xfrm>
            <a:off x="6637020" y="914400"/>
            <a:ext cx="277368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468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0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3556355" y="914400"/>
            <a:ext cx="5844539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5"/>
          </p:nvPr>
        </p:nvSpPr>
        <p:spPr>
          <a:xfrm>
            <a:off x="495300" y="914400"/>
            <a:ext cx="2773680" cy="5303838"/>
          </a:xfrm>
          <a:prstGeom prst="rect">
            <a:avLst/>
          </a:prstGeom>
        </p:spPr>
        <p:txBody>
          <a:bodyPr/>
          <a:lstStyle>
            <a:lvl3pPr marL="682625" indent="-222250">
              <a:buFont typeface="Courier New" panose="02070309020205020404" pitchFamily="49" charset="0"/>
              <a:buChar char="o"/>
              <a:defRPr/>
            </a:lvl3pPr>
            <a:lvl4pPr marL="860425" indent="-177800">
              <a:buFont typeface="Arial" panose="020B0604020202020204" pitchFamily="34" charset="0"/>
              <a:buChar char="»"/>
              <a:defRPr/>
            </a:lvl4pPr>
            <a:lvl5pPr marL="1030288" indent="-174625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253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1" cy="5486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914400"/>
            <a:ext cx="2773680" cy="53038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sz="1000" b="1">
                <a:solidFill>
                  <a:schemeClr val="tx2"/>
                </a:solidFill>
              </a:defRPr>
            </a:lvl1pPr>
            <a:lvl2pPr marL="0" indent="0">
              <a:spcBef>
                <a:spcPts val="900"/>
              </a:spcBef>
              <a:buFont typeface="Arial"/>
              <a:buNone/>
              <a:defRPr sz="1000" b="1"/>
            </a:lvl2pPr>
            <a:lvl3pPr marL="0" indent="0">
              <a:spcBef>
                <a:spcPts val="0"/>
              </a:spcBef>
              <a:buFont typeface="Arial"/>
              <a:buNone/>
              <a:defRPr sz="1000"/>
            </a:lvl3pPr>
            <a:lvl4pPr marL="0" indent="0">
              <a:spcBef>
                <a:spcPts val="0"/>
              </a:spcBef>
              <a:buFont typeface="Arial"/>
              <a:buNone/>
              <a:defRPr sz="1000"/>
            </a:lvl4pPr>
            <a:lvl5pPr marL="0" indent="0">
              <a:spcBef>
                <a:spcPts val="0"/>
              </a:spcBef>
              <a:buFont typeface="Arial"/>
              <a:buNone/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66160" y="914400"/>
            <a:ext cx="2773680" cy="53038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sz="1000" b="1">
                <a:solidFill>
                  <a:schemeClr val="tx2"/>
                </a:solidFill>
              </a:defRPr>
            </a:lvl1pPr>
            <a:lvl2pPr marL="0" indent="0">
              <a:spcBef>
                <a:spcPts val="900"/>
              </a:spcBef>
              <a:buFont typeface="Arial"/>
              <a:buNone/>
              <a:tabLst/>
              <a:defRPr sz="1000" b="1"/>
            </a:lvl2pPr>
            <a:lvl3pPr marL="0" indent="0">
              <a:spcBef>
                <a:spcPts val="0"/>
              </a:spcBef>
              <a:buFont typeface="Arial"/>
              <a:buNone/>
              <a:defRPr sz="1000"/>
            </a:lvl3pPr>
            <a:lvl4pPr marL="0" indent="0">
              <a:spcBef>
                <a:spcPts val="0"/>
              </a:spcBef>
              <a:buFont typeface="Arial"/>
              <a:buNone/>
              <a:defRPr sz="1000"/>
            </a:lvl4pPr>
            <a:lvl5pPr marL="0" indent="0">
              <a:spcBef>
                <a:spcPts val="0"/>
              </a:spcBef>
              <a:buFont typeface="Arial"/>
              <a:buNone/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6637021" y="914400"/>
            <a:ext cx="2773680" cy="53038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buFont typeface="Arial"/>
              <a:buNone/>
              <a:defRPr sz="1000" b="1">
                <a:solidFill>
                  <a:srgbClr val="140078"/>
                </a:solidFill>
              </a:defRPr>
            </a:lvl1pPr>
            <a:lvl2pPr marL="0" indent="0">
              <a:spcBef>
                <a:spcPts val="900"/>
              </a:spcBef>
              <a:buFont typeface="Arial"/>
              <a:buNone/>
              <a:tabLst/>
              <a:defRPr sz="1000" b="1"/>
            </a:lvl2pPr>
            <a:lvl3pPr marL="0" indent="0">
              <a:spcBef>
                <a:spcPts val="0"/>
              </a:spcBef>
              <a:buFont typeface="Arial"/>
              <a:buNone/>
              <a:defRPr sz="1000"/>
            </a:lvl3pPr>
            <a:lvl4pPr marL="0" indent="0">
              <a:spcBef>
                <a:spcPts val="0"/>
              </a:spcBef>
              <a:buFont typeface="Arial"/>
              <a:buNone/>
              <a:defRPr sz="1000"/>
            </a:lvl4pPr>
            <a:lvl5pPr marL="0" indent="0">
              <a:spcBef>
                <a:spcPts val="0"/>
              </a:spcBef>
              <a:buFont typeface="Arial"/>
              <a:buNone/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9202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7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495301" y="1600201"/>
            <a:ext cx="5843852" cy="1828800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95301" y="3566160"/>
            <a:ext cx="5843852" cy="548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5532120"/>
            <a:ext cx="8915400" cy="1143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800" cap="none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80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buFont typeface="Arial"/>
              <a:buNone/>
              <a:tabLst/>
              <a:defRPr sz="80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80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800" cap="none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Disclaimer language, if needed.</a:t>
            </a:r>
            <a:endParaRPr lang="en-US" dirty="0"/>
          </a:p>
        </p:txBody>
      </p:sp>
      <p:pic>
        <p:nvPicPr>
          <p:cNvPr id="44" name="Picture 43" title="One Mizuho: Building the future with you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182356" y="461729"/>
            <a:ext cx="1210056" cy="356616"/>
          </a:xfrm>
          <a:prstGeom prst="rect">
            <a:avLst/>
          </a:prstGeom>
        </p:spPr>
      </p:pic>
      <p:pic>
        <p:nvPicPr>
          <p:cNvPr id="45" name="Picture 44" title="Mizuh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0465" y="295275"/>
            <a:ext cx="2048396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03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973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137160"/>
            <a:ext cx="8915400" cy="54864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95300" y="6400800"/>
            <a:ext cx="8915400" cy="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96390" y="762000"/>
            <a:ext cx="8915400" cy="0"/>
          </a:xfrm>
          <a:prstGeom prst="line">
            <a:avLst/>
          </a:prstGeom>
          <a:ln w="19050" cap="flat" cmpd="sng">
            <a:solidFill>
              <a:srgbClr val="1400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lide Number Placeholder 5"/>
          <p:cNvSpPr txBox="1">
            <a:spLocks/>
          </p:cNvSpPr>
          <p:nvPr/>
        </p:nvSpPr>
        <p:spPr>
          <a:xfrm>
            <a:off x="8915407" y="6492240"/>
            <a:ext cx="495295" cy="18288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457200" rtl="0" eaLnBrk="1" latinLnBrk="0" hangingPunct="1">
              <a:defRPr sz="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60A6F3-8340-744F-A61D-83B16D24B6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Picture 42" title="Mizuho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2432" y="6471238"/>
            <a:ext cx="839102" cy="310896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495301" y="914401"/>
            <a:ext cx="8915400" cy="53030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3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74" r:id="rId3"/>
    <p:sldLayoutId id="2147483651" r:id="rId4"/>
    <p:sldLayoutId id="2147483672" r:id="rId5"/>
    <p:sldLayoutId id="2147483650" r:id="rId6"/>
    <p:sldLayoutId id="2147483668" r:id="rId7"/>
    <p:sldLayoutId id="2147483669" r:id="rId8"/>
    <p:sldLayoutId id="2147483652" r:id="rId9"/>
    <p:sldLayoutId id="2147483671" r:id="rId10"/>
    <p:sldLayoutId id="2147483670" r:id="rId11"/>
    <p:sldLayoutId id="2147483660" r:id="rId12"/>
    <p:sldLayoutId id="2147483661" r:id="rId13"/>
    <p:sldLayoutId id="2147483665" r:id="rId14"/>
    <p:sldLayoutId id="2147483663" r:id="rId15"/>
    <p:sldLayoutId id="2147483664" r:id="rId16"/>
    <p:sldLayoutId id="2147483654" r:id="rId17"/>
    <p:sldLayoutId id="2147483662" r:id="rId18"/>
    <p:sldLayoutId id="2147483675" r:id="rId19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457200" rtl="0" eaLnBrk="1" latinLnBrk="0" hangingPunct="1">
        <a:lnSpc>
          <a:spcPct val="110000"/>
        </a:lnSpc>
        <a:spcBef>
          <a:spcPts val="900"/>
        </a:spcBef>
        <a:buFont typeface="Arial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60375" indent="-230188" algn="l" defTabSz="457200" rtl="0" eaLnBrk="1" latinLnBrk="0" hangingPunct="1">
        <a:lnSpc>
          <a:spcPct val="110000"/>
        </a:lnSpc>
        <a:spcBef>
          <a:spcPts val="300"/>
        </a:spcBef>
        <a:buFont typeface="Arial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22250" algn="l" defTabSz="457200" rtl="0" eaLnBrk="1" latinLnBrk="0" hangingPunct="1">
        <a:lnSpc>
          <a:spcPct val="110000"/>
        </a:lnSpc>
        <a:spcBef>
          <a:spcPts val="300"/>
        </a:spcBef>
        <a:buFont typeface="Arial" pitchFamily="34" charset="0"/>
        <a:buChar char="»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7800" algn="l" defTabSz="457200" rtl="0" eaLnBrk="1" latinLnBrk="0" hangingPunct="1">
        <a:lnSpc>
          <a:spcPct val="110000"/>
        </a:lnSpc>
        <a:spcBef>
          <a:spcPts val="300"/>
        </a:spcBef>
        <a:buFont typeface="Arial" pitchFamily="34" charset="0"/>
        <a:buChar char="□"/>
        <a:defRPr 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4625" algn="l" defTabSz="457200" rtl="0" eaLnBrk="1" latinLnBrk="0" hangingPunct="1">
        <a:lnSpc>
          <a:spcPct val="110000"/>
        </a:lnSpc>
        <a:spcBef>
          <a:spcPts val="300"/>
        </a:spcBef>
        <a:buSzPct val="100000"/>
        <a:buFont typeface="Arial" pitchFamily="34" charset="0"/>
        <a:buChar char="○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Dual-Bootstrapping </a:t>
            </a:r>
            <a:r>
              <a:rPr lang="en-US" dirty="0" smtClean="0"/>
              <a:t>Curve Building</a:t>
            </a:r>
            <a:endParaRPr lang="en-US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Joseph </a:t>
            </a:r>
            <a:r>
              <a:rPr lang="en-US" dirty="0" smtClean="0"/>
              <a:t>Ye &amp; Nicholas Burgess</a:t>
            </a:r>
            <a:endParaRPr lang="en-US" dirty="0" smtClean="0"/>
          </a:p>
          <a:p>
            <a:r>
              <a:rPr lang="en-US" dirty="0" smtClean="0"/>
              <a:t>March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63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Normal </a:t>
            </a:r>
            <a:r>
              <a:rPr lang="en-GB" dirty="0"/>
              <a:t>3M </a:t>
            </a:r>
            <a:r>
              <a:rPr lang="en-GB" dirty="0" smtClean="0"/>
              <a:t>Swap Curve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Take the EUR 3M curve for example. Let’s see what makes up this curve.</a:t>
            </a: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Typically we need these instruments to build this curve:</a:t>
            </a: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3M Libor fixing rate</a:t>
            </a:r>
          </a:p>
          <a:p>
            <a:pPr lvl="2"/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8 IMM Futures</a:t>
            </a:r>
          </a:p>
          <a:p>
            <a:pPr lvl="2"/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16 Interest Rate Swaps (3Y, 4Y, 5Y, 6Y, 7Y, 8Y, 9Y, 10Y, 11Y, 12Y, 15Y, 20Y, 25Y, 30Y, 40Y, 50Y)</a:t>
            </a:r>
          </a:p>
          <a:p>
            <a:pPr lvl="2"/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96863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Makes Up a 3M Swap Curve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68" y="914400"/>
            <a:ext cx="8214632" cy="5302250"/>
          </a:xfrm>
        </p:spPr>
      </p:pic>
      <p:sp>
        <p:nvSpPr>
          <p:cNvPr id="5" name="Rounded Rectangle 4"/>
          <p:cNvSpPr/>
          <p:nvPr/>
        </p:nvSpPr>
        <p:spPr>
          <a:xfrm>
            <a:off x="2199968" y="5205928"/>
            <a:ext cx="144016" cy="554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/>
          </a:p>
        </p:txBody>
      </p:sp>
      <p:grpSp>
        <p:nvGrpSpPr>
          <p:cNvPr id="14" name="Group 13"/>
          <p:cNvGrpSpPr/>
          <p:nvPr/>
        </p:nvGrpSpPr>
        <p:grpSpPr>
          <a:xfrm>
            <a:off x="2424376" y="2652886"/>
            <a:ext cx="1274982" cy="2830222"/>
            <a:chOff x="2424376" y="2652886"/>
            <a:chExt cx="1274982" cy="2830222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6" name="Rounded Rectangle 5"/>
            <p:cNvSpPr/>
            <p:nvPr/>
          </p:nvSpPr>
          <p:spPr>
            <a:xfrm>
              <a:off x="2424376" y="4928748"/>
              <a:ext cx="144016" cy="554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2581926" y="2652886"/>
              <a:ext cx="1117432" cy="2410594"/>
              <a:chOff x="2581926" y="2652886"/>
              <a:chExt cx="1117432" cy="2410594"/>
            </a:xfrm>
            <a:grpFill/>
          </p:grpSpPr>
          <p:sp>
            <p:nvSpPr>
              <p:cNvPr id="7" name="Rounded Rectangle 6"/>
              <p:cNvSpPr/>
              <p:nvPr/>
            </p:nvSpPr>
            <p:spPr>
              <a:xfrm>
                <a:off x="2581926" y="4509120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2745762" y="4231940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2909598" y="3932138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3071034" y="3542903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3232470" y="3212976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3393906" y="2930066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3555342" y="2652886"/>
                <a:ext cx="144016" cy="55436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4023394" y="1502774"/>
            <a:ext cx="4457998" cy="1385900"/>
            <a:chOff x="4023394" y="1502774"/>
            <a:chExt cx="4457998" cy="1385900"/>
          </a:xfrm>
          <a:solidFill>
            <a:srgbClr val="00B0F0"/>
          </a:solidFill>
        </p:grpSpPr>
        <p:sp>
          <p:nvSpPr>
            <p:cNvPr id="17" name="Rounded Rectangle 16"/>
            <p:cNvSpPr/>
            <p:nvPr/>
          </p:nvSpPr>
          <p:spPr>
            <a:xfrm>
              <a:off x="4023394" y="2334314"/>
              <a:ext cx="144016" cy="554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824840" y="1779954"/>
              <a:ext cx="144016" cy="554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889104" y="1502774"/>
              <a:ext cx="144016" cy="554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201104" y="1779954"/>
              <a:ext cx="144016" cy="554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337376" y="2204864"/>
              <a:ext cx="144016" cy="554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4183766" y="3543147"/>
            <a:ext cx="460374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The rest of the points are interpolated by the complex Linear Spline Interpolation method</a:t>
            </a:r>
            <a:endParaRPr lang="en-US" sz="1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268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in a 3M Swap Curve?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Then, we go ahead and calibrate a 3M curve.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After that, you can use this curve to price a 3M swap.</a:t>
            </a:r>
          </a:p>
          <a:p>
            <a:pPr marL="0" indent="0">
              <a:buNone/>
            </a:pPr>
            <a:r>
              <a:rPr lang="en-GB" sz="1400" dirty="0" smtClean="0">
                <a:solidFill>
                  <a:schemeClr val="tx2">
                    <a:lumMod val="75000"/>
                  </a:schemeClr>
                </a:solidFill>
              </a:rPr>
              <a:t>Simple Right?</a:t>
            </a:r>
            <a:endParaRPr lang="en-GB" sz="14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4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But …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What exactly have we calibrated in this 3M curve?</a:t>
            </a: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GB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or</a:t>
            </a: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	What have we created as the 3M curve?</a:t>
            </a: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lvl="2"/>
            <a:endParaRPr lang="en-GB" sz="1500" dirty="0"/>
          </a:p>
          <a:p>
            <a:pPr marL="460375" lvl="2" indent="0">
              <a:buNone/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10746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in a 3M Swap Curve?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Answer: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	</a:t>
            </a:r>
            <a:r>
              <a:rPr lang="en-GB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	</a:t>
            </a:r>
            <a:r>
              <a:rPr lang="en-GB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 have produced a series of discount factors 			   		representing the 3M forward rates.</a:t>
            </a:r>
          </a:p>
          <a:p>
            <a:pPr marL="0" indent="0">
              <a:buNone/>
            </a:pPr>
            <a:endParaRPr lang="en-GB" sz="2000" dirty="0">
              <a:solidFill>
                <a:schemeClr val="tx2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GB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Why discount factors?</a:t>
            </a:r>
          </a:p>
          <a:p>
            <a:pPr marL="0" indent="0">
              <a:buNone/>
            </a:pPr>
            <a:endParaRPr lang="en-GB" sz="2000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lvl="2"/>
            <a:r>
              <a:rPr lang="en-GB" sz="1500" i="1" dirty="0" smtClean="0">
                <a:solidFill>
                  <a:schemeClr val="tx2">
                    <a:lumMod val="75000"/>
                  </a:schemeClr>
                </a:solidFill>
              </a:rPr>
              <a:t>From input’s point of view: </a:t>
            </a:r>
          </a:p>
          <a:p>
            <a:pPr marL="682625" lvl="3" indent="0">
              <a:buNone/>
            </a:pPr>
            <a:r>
              <a:rPr lang="en-GB" sz="1400" i="1" dirty="0" smtClean="0">
                <a:solidFill>
                  <a:schemeClr val="tx2">
                    <a:lumMod val="75000"/>
                  </a:schemeClr>
                </a:solidFill>
              </a:rPr>
              <a:t>	There is always a way to deduce a discount factor on the target curve from a calibration instrument’s market price, i.e. the input price.</a:t>
            </a:r>
          </a:p>
          <a:p>
            <a:pPr marL="682625" lvl="3" indent="0">
              <a:buNone/>
            </a:pPr>
            <a:endParaRPr lang="en-GB" sz="1400" i="1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GB" sz="1500" i="1" dirty="0" smtClean="0">
                <a:solidFill>
                  <a:schemeClr val="tx2">
                    <a:lumMod val="75000"/>
                  </a:schemeClr>
                </a:solidFill>
              </a:rPr>
              <a:t>From output’s point of view:</a:t>
            </a:r>
          </a:p>
          <a:p>
            <a:pPr marL="460375" lvl="2" indent="0">
              <a:buNone/>
            </a:pPr>
            <a:r>
              <a:rPr lang="en-GB" sz="1500" i="1" dirty="0" smtClean="0">
                <a:solidFill>
                  <a:schemeClr val="tx2">
                    <a:lumMod val="75000"/>
                  </a:schemeClr>
                </a:solidFill>
              </a:rPr>
              <a:t>	Discount factors can be directly used to deduce forward rates</a:t>
            </a:r>
          </a:p>
          <a:p>
            <a:pPr marL="460375" lvl="2" indent="0">
              <a:buNone/>
            </a:pPr>
            <a:endParaRPr lang="en-GB" sz="1500" i="1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r>
              <a:rPr lang="en-GB" sz="1500" i="1" dirty="0" smtClean="0">
                <a:solidFill>
                  <a:schemeClr val="tx2">
                    <a:lumMod val="75000"/>
                  </a:schemeClr>
                </a:solidFill>
              </a:rPr>
              <a:t>What do we need to price a 3M interest rate swap?</a:t>
            </a:r>
          </a:p>
          <a:p>
            <a:pPr marL="460375" lvl="2" indent="0">
              <a:buNone/>
            </a:pPr>
            <a:r>
              <a:rPr lang="en-GB" sz="1500" i="1" dirty="0" smtClean="0">
                <a:solidFill>
                  <a:schemeClr val="tx2">
                    <a:lumMod val="75000"/>
                  </a:schemeClr>
                </a:solidFill>
              </a:rPr>
              <a:t>	3M forward rates!</a:t>
            </a:r>
          </a:p>
          <a:p>
            <a:pPr lvl="2"/>
            <a:endParaRPr lang="en-GB" sz="1500" dirty="0"/>
          </a:p>
          <a:p>
            <a:pPr marL="460375" lvl="2" indent="0">
              <a:buNone/>
            </a:pPr>
            <a:endParaRPr lang="en-GB" sz="15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92" y="4604742"/>
            <a:ext cx="24384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3301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3M </a:t>
            </a:r>
            <a:r>
              <a:rPr lang="en-GB" dirty="0"/>
              <a:t>S</a:t>
            </a:r>
            <a:r>
              <a:rPr lang="en-GB" dirty="0" smtClean="0"/>
              <a:t>wap Curve - </a:t>
            </a:r>
            <a:r>
              <a:rPr lang="en-GB" dirty="0"/>
              <a:t>From Inputs to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PV formula for a Eurodollar futures contract:</a:t>
            </a:r>
          </a:p>
          <a:p>
            <a:pPr marL="0" indent="0">
              <a:buNone/>
            </a:pPr>
            <a:endParaRPr lang="en-GB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PV formulas for a vanilla interest rate swap:</a:t>
            </a:r>
          </a:p>
          <a:p>
            <a:pPr marL="460375" lvl="2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728" y="2918212"/>
            <a:ext cx="3089554" cy="7988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65" y="3881775"/>
            <a:ext cx="4319622" cy="7713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740" y="4869455"/>
            <a:ext cx="2092487" cy="48190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0" y="1344105"/>
            <a:ext cx="2381250" cy="819150"/>
          </a:xfrm>
          <a:prstGeom prst="rect">
            <a:avLst/>
          </a:prstGeom>
        </p:spPr>
      </p:pic>
      <p:grpSp>
        <p:nvGrpSpPr>
          <p:cNvPr id="50" name="Group 49"/>
          <p:cNvGrpSpPr/>
          <p:nvPr/>
        </p:nvGrpSpPr>
        <p:grpSpPr>
          <a:xfrm>
            <a:off x="4088904" y="2093486"/>
            <a:ext cx="5268537" cy="2781290"/>
            <a:chOff x="4088904" y="2093486"/>
            <a:chExt cx="5268537" cy="2781290"/>
          </a:xfrm>
        </p:grpSpPr>
        <p:grpSp>
          <p:nvGrpSpPr>
            <p:cNvPr id="27" name="Group 26"/>
            <p:cNvGrpSpPr/>
            <p:nvPr/>
          </p:nvGrpSpPr>
          <p:grpSpPr>
            <a:xfrm>
              <a:off x="4088904" y="2710035"/>
              <a:ext cx="4320480" cy="669931"/>
              <a:chOff x="4088904" y="2710035"/>
              <a:chExt cx="4320480" cy="669931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21" name="U-Turn Arrow 20"/>
              <p:cNvSpPr/>
              <p:nvPr/>
            </p:nvSpPr>
            <p:spPr>
              <a:xfrm flipH="1">
                <a:off x="4376936" y="2712889"/>
                <a:ext cx="4032448" cy="634661"/>
              </a:xfrm>
              <a:prstGeom prst="uturnArrow">
                <a:avLst>
                  <a:gd name="adj1" fmla="val 11979"/>
                  <a:gd name="adj2" fmla="val 14149"/>
                  <a:gd name="adj3" fmla="val 14584"/>
                  <a:gd name="adj4" fmla="val 43750"/>
                  <a:gd name="adj5" fmla="val 697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U-Turn Arrow 22"/>
              <p:cNvSpPr/>
              <p:nvPr/>
            </p:nvSpPr>
            <p:spPr>
              <a:xfrm flipH="1">
                <a:off x="4736976" y="2745305"/>
                <a:ext cx="3665990" cy="634661"/>
              </a:xfrm>
              <a:prstGeom prst="uturnArrow">
                <a:avLst>
                  <a:gd name="adj1" fmla="val 11979"/>
                  <a:gd name="adj2" fmla="val 14149"/>
                  <a:gd name="adj3" fmla="val 14584"/>
                  <a:gd name="adj4" fmla="val 43750"/>
                  <a:gd name="adj5" fmla="val 697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U-Turn Arrow 23"/>
              <p:cNvSpPr/>
              <p:nvPr/>
            </p:nvSpPr>
            <p:spPr>
              <a:xfrm flipH="1">
                <a:off x="4088904" y="2710035"/>
                <a:ext cx="4314062" cy="650979"/>
              </a:xfrm>
              <a:prstGeom prst="uturnArrow">
                <a:avLst>
                  <a:gd name="adj1" fmla="val 11979"/>
                  <a:gd name="adj2" fmla="val 14149"/>
                  <a:gd name="adj3" fmla="val 14584"/>
                  <a:gd name="adj4" fmla="val 43750"/>
                  <a:gd name="adj5" fmla="val 6979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U-Turn Arrow 21"/>
            <p:cNvSpPr/>
            <p:nvPr/>
          </p:nvSpPr>
          <p:spPr>
            <a:xfrm flipH="1" flipV="1">
              <a:off x="6321152" y="4239768"/>
              <a:ext cx="2088232" cy="621545"/>
            </a:xfrm>
            <a:prstGeom prst="uturnArrow">
              <a:avLst>
                <a:gd name="adj1" fmla="val 11979"/>
                <a:gd name="adj2" fmla="val 14149"/>
                <a:gd name="adj3" fmla="val 14584"/>
                <a:gd name="adj4" fmla="val 43750"/>
                <a:gd name="adj5" fmla="val 69792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U-Turn Arrow 24"/>
            <p:cNvSpPr/>
            <p:nvPr/>
          </p:nvSpPr>
          <p:spPr>
            <a:xfrm flipH="1" flipV="1">
              <a:off x="4376936" y="4253231"/>
              <a:ext cx="4026030" cy="621545"/>
            </a:xfrm>
            <a:prstGeom prst="uturnArrow">
              <a:avLst>
                <a:gd name="adj1" fmla="val 11979"/>
                <a:gd name="adj2" fmla="val 14149"/>
                <a:gd name="adj3" fmla="val 14584"/>
                <a:gd name="adj4" fmla="val 43750"/>
                <a:gd name="adj5" fmla="val 69792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80060" y="3620402"/>
              <a:ext cx="1577381" cy="430887"/>
            </a:xfrm>
            <a:prstGeom prst="rect">
              <a:avLst/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200" dirty="0" smtClean="0"/>
                <a:t>All Known!</a:t>
              </a:r>
              <a:endParaRPr lang="en-GB" sz="2200" dirty="0"/>
            </a:p>
          </p:txBody>
        </p:sp>
        <p:sp>
          <p:nvSpPr>
            <p:cNvPr id="45" name="Bent Arrow 44"/>
            <p:cNvSpPr/>
            <p:nvPr/>
          </p:nvSpPr>
          <p:spPr>
            <a:xfrm rot="16200000">
              <a:off x="5042306" y="1415379"/>
              <a:ext cx="687442" cy="2043656"/>
            </a:xfrm>
            <a:prstGeom prst="bentArrow">
              <a:avLst>
                <a:gd name="adj1" fmla="val 9694"/>
                <a:gd name="adj2" fmla="val 18768"/>
                <a:gd name="adj3" fmla="val 20853"/>
                <a:gd name="adj4" fmla="val 45145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2641" y="1629942"/>
            <a:ext cx="4769626" cy="3915109"/>
            <a:chOff x="22641" y="1629942"/>
            <a:chExt cx="4769626" cy="3915109"/>
          </a:xfrm>
        </p:grpSpPr>
        <p:sp>
          <p:nvSpPr>
            <p:cNvPr id="46" name="Bent Arrow 45"/>
            <p:cNvSpPr/>
            <p:nvPr/>
          </p:nvSpPr>
          <p:spPr>
            <a:xfrm>
              <a:off x="1208584" y="1629942"/>
              <a:ext cx="1253281" cy="1953319"/>
            </a:xfrm>
            <a:prstGeom prst="bentArrow">
              <a:avLst>
                <a:gd name="adj1" fmla="val 6654"/>
                <a:gd name="adj2" fmla="val 8254"/>
                <a:gd name="adj3" fmla="val 18636"/>
                <a:gd name="adj4" fmla="val 45145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7" name="U-Turn Arrow 46"/>
            <p:cNvSpPr/>
            <p:nvPr/>
          </p:nvSpPr>
          <p:spPr>
            <a:xfrm flipV="1">
              <a:off x="1208584" y="3935073"/>
              <a:ext cx="3583683" cy="1609978"/>
            </a:xfrm>
            <a:prstGeom prst="uturnArrow">
              <a:avLst>
                <a:gd name="adj1" fmla="val 5023"/>
                <a:gd name="adj2" fmla="val 5728"/>
                <a:gd name="adj3" fmla="val 14030"/>
                <a:gd name="adj4" fmla="val 36798"/>
                <a:gd name="adj5" fmla="val 69792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641" y="3603415"/>
              <a:ext cx="2371885" cy="323165"/>
            </a:xfrm>
            <a:prstGeom prst="rect">
              <a:avLst/>
            </a:prstGeom>
            <a:noFill/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500" dirty="0" smtClean="0"/>
                <a:t>Unknown discount factors</a:t>
              </a:r>
              <a:endParaRPr lang="en-GB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9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3M </a:t>
            </a:r>
            <a:r>
              <a:rPr lang="en-GB" dirty="0" smtClean="0"/>
              <a:t>Swap Curve </a:t>
            </a:r>
            <a:r>
              <a:rPr lang="en-GB" dirty="0"/>
              <a:t>- From Inputs to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Pricing formulae of the calibration instruments are used to collectively produce the discount factors of the target curve on all the tenor nodes through a mixture of</a:t>
            </a:r>
          </a:p>
          <a:p>
            <a:pPr marL="0" indent="0">
              <a:buNone/>
            </a:pP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						Regular bootstrapping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						</a:t>
            </a:r>
            <a:r>
              <a:rPr lang="en-GB" sz="1200" dirty="0" smtClean="0">
                <a:solidFill>
                  <a:schemeClr val="tx2">
                    <a:lumMod val="75000"/>
                  </a:schemeClr>
                </a:solidFill>
              </a:rPr>
              <a:t>and</a:t>
            </a:r>
            <a:r>
              <a:rPr lang="en-GB" sz="12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						Mathematical Optimization (Solving)</a:t>
            </a:r>
          </a:p>
          <a:p>
            <a:pPr marL="0" indent="0">
              <a:buNone/>
            </a:pP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b="1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endParaRPr lang="en-GB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624" y="3565912"/>
            <a:ext cx="2667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6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3M </a:t>
            </a:r>
            <a:r>
              <a:rPr lang="en-GB" dirty="0" smtClean="0"/>
              <a:t>Swap Curve </a:t>
            </a:r>
            <a:r>
              <a:rPr lang="en-GB" dirty="0"/>
              <a:t>- From Inputs to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In the pricing formulae, one of the known parameters is </a:t>
            </a: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This is </a:t>
            </a:r>
            <a:r>
              <a:rPr lang="en-GB" i="1" u="sng" dirty="0" smtClean="0">
                <a:solidFill>
                  <a:schemeClr val="tx2">
                    <a:lumMod val="75000"/>
                  </a:schemeClr>
                </a:solidFill>
              </a:rPr>
              <a:t>the discount factor from the OIS discounting curve.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It’s known because the OIS curve has already been created.</a:t>
            </a: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This is the old way of building curves: </a:t>
            </a:r>
          </a:p>
          <a:p>
            <a:pPr marL="0" indent="0">
              <a:buNone/>
            </a:pPr>
            <a:r>
              <a:rPr lang="en-GB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– sequentially, one curve is built after another</a:t>
            </a: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– </a:t>
            </a:r>
            <a:r>
              <a:rPr lang="en-GB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at any one point, there is ALWAYS only one unknown: the discount factor of the current 		   curve</a:t>
            </a:r>
            <a:endParaRPr lang="en-GB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GB" b="1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GB" sz="18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But what if ..</a:t>
            </a:r>
          </a:p>
          <a:p>
            <a:pPr marL="0" indent="0">
              <a:buNone/>
            </a:pPr>
            <a:r>
              <a:rPr lang="en-GB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GB" sz="1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 OIS curve has not yet been built and its discount factor is also an 	unknown??</a:t>
            </a:r>
          </a:p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/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64" y="863424"/>
            <a:ext cx="8477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Yield Curve Engine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So now we don’t know the discount factors of the 3M swap curve,</a:t>
            </a: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And neither do we know the discount factors of the OIS curve.</a:t>
            </a: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Two sets of unknowns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… So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how do we do calibrate the 3M swap curve?</a:t>
            </a:r>
          </a:p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Thought Process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- 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If we are able to calibrate one yield curve when there is only one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unknown then … 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D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oes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that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mean</a:t>
            </a: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we can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calibrate two yield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curves when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there are two unknowns?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The answer is YES!</a:t>
            </a:r>
          </a:p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How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?</a:t>
            </a:r>
          </a:p>
          <a:p>
            <a:pPr marL="0" indent="0">
              <a:buNone/>
            </a:pP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We will have to solve for both curves, simultaneously!</a:t>
            </a: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	</a:t>
            </a: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	We use a </a:t>
            </a:r>
            <a:r>
              <a:rPr lang="en-GB" sz="1500" b="1" i="1" dirty="0" smtClean="0">
                <a:solidFill>
                  <a:schemeClr val="tx2">
                    <a:lumMod val="75000"/>
                  </a:schemeClr>
                </a:solidFill>
              </a:rPr>
              <a:t>Yield Curve Engine</a:t>
            </a:r>
          </a:p>
          <a:p>
            <a:pPr marL="0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0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Global Yield Curve Engine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Introducing the concept of </a:t>
            </a:r>
            <a:r>
              <a:rPr lang="en-GB" sz="1500" b="1" i="1" u="sng" dirty="0" smtClean="0">
                <a:solidFill>
                  <a:schemeClr val="tx2">
                    <a:lumMod val="75000"/>
                  </a:schemeClr>
                </a:solidFill>
              </a:rPr>
              <a:t>Yield Curve Engine</a:t>
            </a:r>
            <a:endParaRPr lang="en-GB" sz="1500" i="1" u="sng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What is a Yield Curve Engine?</a:t>
            </a:r>
          </a:p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The core of the engine is a giant,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cross-curve solver</a:t>
            </a: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– it solves for discount factors of two or more unknown curves, simultaneously. But, there’s a lot more;</a:t>
            </a:r>
          </a:p>
          <a:p>
            <a:pPr marL="460375" lvl="2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It’s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global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 – it sees all the calibration instruments on all the curves 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It’s </a:t>
            </a:r>
            <a:r>
              <a:rPr lang="en-GB" sz="1500" b="1" dirty="0">
                <a:solidFill>
                  <a:schemeClr val="tx2">
                    <a:lumMod val="75000"/>
                  </a:schemeClr>
                </a:solidFill>
              </a:rPr>
              <a:t>smart</a:t>
            </a: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 – it knows how to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inter-link </a:t>
            </a:r>
            <a:r>
              <a:rPr lang="en-GB" sz="1500" dirty="0">
                <a:solidFill>
                  <a:schemeClr val="tx2">
                    <a:lumMod val="75000"/>
                  </a:schemeClr>
                </a:solidFill>
              </a:rPr>
              <a:t>all the instruments together from all the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curves since most 		      of these instruments have inter-dependency with each other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It’s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arbitrage free 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– because it builds its curves simultaneously, no curves in the same engine 					can be used to create arbitrage opportunities against other curves.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It’s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very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accurate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 – powerful solver insures all calibrated curves can re-price all the input 					  calibration instruments with high accuracy.</a:t>
            </a:r>
          </a:p>
          <a:p>
            <a:pPr lvl="2">
              <a:buFont typeface="Wingdings" panose="05000000000000000000" pitchFamily="2" charset="2"/>
              <a:buChar char="q"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It’s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new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 and </a:t>
            </a:r>
            <a:r>
              <a:rPr lang="en-GB" sz="1500" b="1" dirty="0" smtClean="0">
                <a:solidFill>
                  <a:schemeClr val="tx2">
                    <a:lumMod val="75000"/>
                  </a:schemeClr>
                </a:solidFill>
              </a:rPr>
              <a:t>advanced</a:t>
            </a:r>
            <a:r>
              <a:rPr lang="en-GB" sz="1500" dirty="0" smtClean="0">
                <a:solidFill>
                  <a:schemeClr val="tx2">
                    <a:lumMod val="75000"/>
                  </a:schemeClr>
                </a:solidFill>
              </a:rPr>
              <a:t> – a complete re-design and re-write of how yield curves are built in MHI</a:t>
            </a: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90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Global Yield Curve Engine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5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GB" sz="30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How does this Curve Engine work?</a:t>
            </a:r>
          </a:p>
          <a:p>
            <a:pPr marL="0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  <a:p>
            <a:pPr marL="460375" lvl="2" indent="0">
              <a:buNone/>
            </a:pPr>
            <a:endParaRPr lang="en-GB" sz="15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10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Content Placeholder 204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dirty="0"/>
              <a:t>Quickly flip back to </a:t>
            </a:r>
            <a:r>
              <a:rPr lang="en-GB" sz="1300" dirty="0" smtClean="0"/>
              <a:t>single yield </a:t>
            </a:r>
            <a:r>
              <a:rPr lang="en-GB" sz="1300" dirty="0"/>
              <a:t>curve </a:t>
            </a:r>
            <a:r>
              <a:rPr lang="en-GB" sz="1300" dirty="0" smtClean="0"/>
              <a:t>building (the old way). </a:t>
            </a:r>
            <a:r>
              <a:rPr lang="en-GB" sz="1300" dirty="0"/>
              <a:t>Let’s take a look at how discount factors are solved.</a:t>
            </a:r>
          </a:p>
          <a:p>
            <a:pPr marL="0" indent="0">
              <a:buNone/>
            </a:pPr>
            <a:endParaRPr lang="en-GB" sz="1300" dirty="0"/>
          </a:p>
        </p:txBody>
      </p:sp>
      <p:pic>
        <p:nvPicPr>
          <p:cNvPr id="2051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0768"/>
            <a:ext cx="8157914" cy="503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Yield Curve Engine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2920" y="2511272"/>
            <a:ext cx="144016" cy="554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4268924" y="1844824"/>
            <a:ext cx="72008" cy="3600400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/>
          <p:cNvSpPr/>
          <p:nvPr/>
        </p:nvSpPr>
        <p:spPr>
          <a:xfrm rot="6279652">
            <a:off x="5194311" y="2234322"/>
            <a:ext cx="245250" cy="1652672"/>
          </a:xfrm>
          <a:prstGeom prst="downArrow">
            <a:avLst>
              <a:gd name="adj1" fmla="val 50000"/>
              <a:gd name="adj2" fmla="val 49771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85148" y="2708920"/>
            <a:ext cx="1707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Image there’s only one input calibration instrument, a 5Y 3M interest rate swap</a:t>
            </a:r>
            <a:endParaRPr lang="en-GB" dirty="0"/>
          </a:p>
        </p:txBody>
      </p:sp>
      <p:sp>
        <p:nvSpPr>
          <p:cNvPr id="27" name="TextBox 26"/>
          <p:cNvSpPr txBox="1"/>
          <p:nvPr/>
        </p:nvSpPr>
        <p:spPr>
          <a:xfrm>
            <a:off x="4092302" y="5589240"/>
            <a:ext cx="497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/>
              <a:t>5Y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1779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Content Placeholder 204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dirty="0"/>
              <a:t>Quickly flip back to </a:t>
            </a:r>
            <a:r>
              <a:rPr lang="en-GB" sz="1300" dirty="0" smtClean="0"/>
              <a:t>single yield </a:t>
            </a:r>
            <a:r>
              <a:rPr lang="en-GB" sz="1300" dirty="0"/>
              <a:t>curve </a:t>
            </a:r>
            <a:r>
              <a:rPr lang="en-GB" sz="1300" dirty="0" smtClean="0"/>
              <a:t>building (the old way). </a:t>
            </a:r>
            <a:r>
              <a:rPr lang="en-GB" sz="1300" dirty="0"/>
              <a:t>Let’s take a look at how discount factors are solved.</a:t>
            </a:r>
          </a:p>
          <a:p>
            <a:pPr marL="0" indent="0">
              <a:buNone/>
            </a:pPr>
            <a:endParaRPr lang="en-GB" sz="1300" dirty="0"/>
          </a:p>
        </p:txBody>
      </p:sp>
      <p:pic>
        <p:nvPicPr>
          <p:cNvPr id="2051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0768"/>
            <a:ext cx="8157914" cy="503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Yield Curve Engine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2920" y="2511272"/>
            <a:ext cx="144016" cy="554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4268924" y="1844824"/>
            <a:ext cx="72008" cy="3600400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/>
          <p:cNvSpPr/>
          <p:nvPr/>
        </p:nvSpPr>
        <p:spPr>
          <a:xfrm rot="6279652">
            <a:off x="5194311" y="2234322"/>
            <a:ext cx="245250" cy="1652672"/>
          </a:xfrm>
          <a:prstGeom prst="downArrow">
            <a:avLst>
              <a:gd name="adj1" fmla="val 50000"/>
              <a:gd name="adj2" fmla="val 49771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92302" y="5589240"/>
            <a:ext cx="497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/>
              <a:t>5Y</a:t>
            </a:r>
            <a:endParaRPr lang="en-GB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6147404" y="2797676"/>
            <a:ext cx="26940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Q: What are we trying to generate from this calibration </a:t>
            </a:r>
            <a:r>
              <a:rPr lang="en-GB" dirty="0" smtClean="0"/>
              <a:t>Instrument</a:t>
            </a:r>
            <a:r>
              <a:rPr lang="en-GB" dirty="0" smtClean="0"/>
              <a:t>?</a:t>
            </a:r>
          </a:p>
          <a:p>
            <a:endParaRPr lang="en-GB" dirty="0" smtClean="0"/>
          </a:p>
          <a:p>
            <a:r>
              <a:rPr lang="en-GB" dirty="0" smtClean="0"/>
              <a:t>A: The discount factor at the 5Y </a:t>
            </a:r>
            <a:r>
              <a:rPr lang="en-GB" dirty="0" smtClean="0"/>
              <a:t>point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590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9" grpId="0"/>
      <p:bldP spid="3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Content Placeholder 204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dirty="0"/>
              <a:t>Quickly flip back to </a:t>
            </a:r>
            <a:r>
              <a:rPr lang="en-GB" sz="1300" dirty="0" smtClean="0"/>
              <a:t>single yield </a:t>
            </a:r>
            <a:r>
              <a:rPr lang="en-GB" sz="1300" dirty="0"/>
              <a:t>curve </a:t>
            </a:r>
            <a:r>
              <a:rPr lang="en-GB" sz="1300" dirty="0" smtClean="0"/>
              <a:t>building (the old way). </a:t>
            </a:r>
            <a:r>
              <a:rPr lang="en-GB" sz="1300" dirty="0"/>
              <a:t>Let’s take a look at how discount factors are solved.</a:t>
            </a:r>
          </a:p>
          <a:p>
            <a:pPr marL="0" indent="0">
              <a:buNone/>
            </a:pPr>
            <a:endParaRPr lang="en-GB" sz="1300" dirty="0"/>
          </a:p>
        </p:txBody>
      </p:sp>
      <p:pic>
        <p:nvPicPr>
          <p:cNvPr id="2051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0768"/>
            <a:ext cx="8157914" cy="503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Yield Curve Engine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2920" y="2511272"/>
            <a:ext cx="144016" cy="554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4268924" y="1844824"/>
            <a:ext cx="72008" cy="3600400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/>
          <p:cNvSpPr/>
          <p:nvPr/>
        </p:nvSpPr>
        <p:spPr>
          <a:xfrm rot="6279652">
            <a:off x="5194311" y="2234322"/>
            <a:ext cx="245250" cy="1652672"/>
          </a:xfrm>
          <a:prstGeom prst="downArrow">
            <a:avLst>
              <a:gd name="adj1" fmla="val 50000"/>
              <a:gd name="adj2" fmla="val 49771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b="1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92302" y="5589240"/>
            <a:ext cx="497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/>
              <a:t>5Y</a:t>
            </a:r>
            <a:endParaRPr lang="en-GB" sz="1100" dirty="0"/>
          </a:p>
        </p:txBody>
      </p:sp>
      <p:sp>
        <p:nvSpPr>
          <p:cNvPr id="40" name="TextBox 39"/>
          <p:cNvSpPr txBox="1"/>
          <p:nvPr/>
        </p:nvSpPr>
        <p:spPr>
          <a:xfrm>
            <a:off x="6321152" y="2530332"/>
            <a:ext cx="2304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How?</a:t>
            </a:r>
          </a:p>
          <a:p>
            <a:endParaRPr lang="en-GB" dirty="0"/>
          </a:p>
          <a:p>
            <a:r>
              <a:rPr lang="en-GB" dirty="0" smtClean="0"/>
              <a:t>Solver:</a:t>
            </a:r>
            <a:endParaRPr lang="en-GB" dirty="0"/>
          </a:p>
          <a:p>
            <a:r>
              <a:rPr lang="en-GB" dirty="0" smtClean="0"/>
              <a:t>Change the value of the unknown – discount factor at the 5Y point, so that PV of a 5Y swap is 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0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0" grpId="0"/>
      <p:bldP spid="4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Content Placeholder 204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300" dirty="0"/>
              <a:t>Quickly flip back to </a:t>
            </a:r>
            <a:r>
              <a:rPr lang="en-GB" sz="1300" dirty="0" smtClean="0"/>
              <a:t>single yield </a:t>
            </a:r>
            <a:r>
              <a:rPr lang="en-GB" sz="1300" dirty="0"/>
              <a:t>curve </a:t>
            </a:r>
            <a:r>
              <a:rPr lang="en-GB" sz="1300" dirty="0" smtClean="0"/>
              <a:t>building (the old way). </a:t>
            </a:r>
            <a:r>
              <a:rPr lang="en-GB" sz="1300" dirty="0"/>
              <a:t>Let’s take a look at how discount factors are solved.</a:t>
            </a:r>
          </a:p>
          <a:p>
            <a:pPr marL="0" indent="0">
              <a:buNone/>
            </a:pPr>
            <a:endParaRPr lang="en-GB" sz="1300" dirty="0"/>
          </a:p>
        </p:txBody>
      </p:sp>
      <p:pic>
        <p:nvPicPr>
          <p:cNvPr id="2051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340768"/>
            <a:ext cx="8157914" cy="5036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Yield Curve Engine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2920" y="2511272"/>
            <a:ext cx="144016" cy="5543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4268924" y="1844824"/>
            <a:ext cx="72008" cy="3600400"/>
          </a:xfrm>
          <a:prstGeom prst="line">
            <a:avLst/>
          </a:prstGeom>
          <a:ln w="31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92302" y="5589240"/>
            <a:ext cx="497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/>
              <a:t>5Y</a:t>
            </a:r>
            <a:endParaRPr lang="en-GB" sz="1100" dirty="0"/>
          </a:p>
        </p:txBody>
      </p:sp>
      <p:grpSp>
        <p:nvGrpSpPr>
          <p:cNvPr id="2053" name="Group 2052"/>
          <p:cNvGrpSpPr/>
          <p:nvPr/>
        </p:nvGrpSpPr>
        <p:grpSpPr>
          <a:xfrm>
            <a:off x="4299979" y="1877380"/>
            <a:ext cx="3913237" cy="3973470"/>
            <a:chOff x="4299979" y="1877380"/>
            <a:chExt cx="3913237" cy="3973470"/>
          </a:xfrm>
        </p:grpSpPr>
        <p:grpSp>
          <p:nvGrpSpPr>
            <p:cNvPr id="2052" name="Group 2051"/>
            <p:cNvGrpSpPr/>
            <p:nvPr/>
          </p:nvGrpSpPr>
          <p:grpSpPr>
            <a:xfrm>
              <a:off x="4573103" y="1877380"/>
              <a:ext cx="3640113" cy="3973470"/>
              <a:chOff x="4573103" y="1877380"/>
              <a:chExt cx="3640113" cy="3973470"/>
            </a:xfrm>
          </p:grpSpPr>
          <p:sp>
            <p:nvSpPr>
              <p:cNvPr id="41" name="Rounded Rectangle 40"/>
              <p:cNvSpPr/>
              <p:nvPr/>
            </p:nvSpPr>
            <p:spPr>
              <a:xfrm>
                <a:off x="4808984" y="2154560"/>
                <a:ext cx="144016" cy="55436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5457056" y="1956912"/>
                <a:ext cx="144016" cy="55436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6251076" y="1877380"/>
                <a:ext cx="144016" cy="55436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6979240" y="1988840"/>
                <a:ext cx="144016" cy="55436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7617296" y="2154560"/>
                <a:ext cx="144016" cy="55436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4573103" y="5589240"/>
                <a:ext cx="36401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 smtClean="0"/>
                  <a:t>       6Y              7Y               8Y              9Y            10Y</a:t>
                </a:r>
                <a:endParaRPr lang="en-GB" sz="1100" dirty="0"/>
              </a:p>
            </p:txBody>
          </p:sp>
        </p:grpSp>
        <p:sp>
          <p:nvSpPr>
            <p:cNvPr id="48" name="Down Arrow 47"/>
            <p:cNvSpPr/>
            <p:nvPr/>
          </p:nvSpPr>
          <p:spPr>
            <a:xfrm rot="7870088">
              <a:off x="4908939" y="2774117"/>
              <a:ext cx="245250" cy="1463169"/>
            </a:xfrm>
            <a:prstGeom prst="downArrow">
              <a:avLst>
                <a:gd name="adj1" fmla="val 50000"/>
                <a:gd name="adj2" fmla="val 49771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b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</p:txBody>
        </p:sp>
        <p:sp>
          <p:nvSpPr>
            <p:cNvPr id="49" name="Down Arrow 48"/>
            <p:cNvSpPr/>
            <p:nvPr/>
          </p:nvSpPr>
          <p:spPr>
            <a:xfrm rot="8823772">
              <a:off x="5305989" y="2583077"/>
              <a:ext cx="245250" cy="1393993"/>
            </a:xfrm>
            <a:prstGeom prst="downArrow">
              <a:avLst>
                <a:gd name="adj1" fmla="val 50000"/>
                <a:gd name="adj2" fmla="val 49771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b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</p:txBody>
        </p:sp>
        <p:sp>
          <p:nvSpPr>
            <p:cNvPr id="50" name="Down Arrow 49"/>
            <p:cNvSpPr/>
            <p:nvPr/>
          </p:nvSpPr>
          <p:spPr>
            <a:xfrm rot="9820664">
              <a:off x="5689673" y="2519822"/>
              <a:ext cx="245250" cy="1285797"/>
            </a:xfrm>
            <a:prstGeom prst="downArrow">
              <a:avLst>
                <a:gd name="adj1" fmla="val 50000"/>
                <a:gd name="adj2" fmla="val 49771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b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</p:txBody>
        </p:sp>
        <p:sp>
          <p:nvSpPr>
            <p:cNvPr id="51" name="Down Arrow 50"/>
            <p:cNvSpPr/>
            <p:nvPr/>
          </p:nvSpPr>
          <p:spPr>
            <a:xfrm rot="10800000">
              <a:off x="6200459" y="2494751"/>
              <a:ext cx="245250" cy="1222280"/>
            </a:xfrm>
            <a:prstGeom prst="downArrow">
              <a:avLst>
                <a:gd name="adj1" fmla="val 50000"/>
                <a:gd name="adj2" fmla="val 49771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b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</p:txBody>
        </p:sp>
        <p:sp>
          <p:nvSpPr>
            <p:cNvPr id="52" name="Down Arrow 51"/>
            <p:cNvSpPr/>
            <p:nvPr/>
          </p:nvSpPr>
          <p:spPr>
            <a:xfrm rot="11901629">
              <a:off x="6690289" y="2555256"/>
              <a:ext cx="245250" cy="1197281"/>
            </a:xfrm>
            <a:prstGeom prst="downArrow">
              <a:avLst>
                <a:gd name="adj1" fmla="val 50000"/>
                <a:gd name="adj2" fmla="val 49771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b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</p:txBody>
        </p:sp>
        <p:sp>
          <p:nvSpPr>
            <p:cNvPr id="53" name="Down Arrow 52"/>
            <p:cNvSpPr/>
            <p:nvPr/>
          </p:nvSpPr>
          <p:spPr>
            <a:xfrm rot="12794056">
              <a:off x="7120950" y="2722962"/>
              <a:ext cx="245250" cy="1197281"/>
            </a:xfrm>
            <a:prstGeom prst="downArrow">
              <a:avLst>
                <a:gd name="adj1" fmla="val 50000"/>
                <a:gd name="adj2" fmla="val 49771"/>
              </a:avLst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b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482278" y="4088890"/>
            <a:ext cx="2304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reality, we have a lot more calibration instruments.</a:t>
            </a:r>
          </a:p>
        </p:txBody>
      </p:sp>
    </p:spTree>
    <p:extLst>
      <p:ext uri="{BB962C8B-B14F-4D97-AF65-F5344CB8AC3E}">
        <p14:creationId xmlns:p14="http://schemas.microsoft.com/office/powerpoint/2010/main" val="194457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Yield Curve Engine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Now you know how a bunch of calibration instruments are used to build a single curve.</a:t>
            </a: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Curve engine works in the same way, conceptually, except that it works with instruments across all the curves at the same time. </a:t>
            </a: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And it’s a LOT more complex…</a:t>
            </a: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1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dual-bootstrapping?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Dual-bootstrapping means building an OIS curve and a swap curve simultaneously.</a:t>
            </a: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So dual-bootstrapping is really just a special case of using the Global Curve Engine, in which case only two curves are simultaneously built in the engine.</a:t>
            </a: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44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Why do we need dual-bootstrapping?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There are inherent problems with the old way of building yield curves.</a:t>
            </a:r>
          </a:p>
          <a:p>
            <a:pPr marL="0" indent="0">
              <a:buNone/>
            </a:pPr>
            <a:r>
              <a:rPr lang="en-GB" sz="1800" i="1" dirty="0" smtClean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Old method in MHI: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Yield curves are all built individually and sequentially, one curve after another. </a:t>
            </a:r>
          </a:p>
          <a:p>
            <a:pPr marL="0" indent="0">
              <a:buNone/>
            </a:pPr>
            <a:r>
              <a:rPr lang="en-GB" sz="1800" i="1" dirty="0" smtClean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What the real market is like: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Many yield curves are linked and cross-dependent with each other. </a:t>
            </a:r>
          </a:p>
          <a:p>
            <a:pPr marL="0" indent="0">
              <a:buNone/>
            </a:pPr>
            <a:r>
              <a:rPr lang="en-GB" sz="1800" i="1" dirty="0" smtClean="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</a:rPr>
              <a:t>How does that affect MHI: </a:t>
            </a:r>
            <a:endParaRPr lang="en-GB" sz="1800" i="1" dirty="0">
              <a:solidFill>
                <a:schemeClr val="tx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	1. Mispricing!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Old yield curves are not self-consistent and not arbitrage free. I could price a 3M 	swap using the 3M curve to get to one PV, and price the same swap using 6M 	curve + 3M/6M basis to get to another PV. </a:t>
            </a: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2. Incomplete profile of delta risks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Because we are not capturing the synchronous nature of how yield curves move, 	we are not capturing the cross curve risks when computing delta risks.</a:t>
            </a: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76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we need dual-bootstrapping?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500" dirty="0" smtClean="0">
                <a:solidFill>
                  <a:schemeClr val="tx2">
                    <a:lumMod val="75000"/>
                  </a:schemeClr>
                </a:solidFill>
              </a:rPr>
              <a:t>Yield curves built by the Global Yield Curve Engine are free from all of these problems!</a:t>
            </a: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Other potential benefits: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Naturally fits in with 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high-speed large-scale </a:t>
            </a: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yield curve publishing for 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a global 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etrading </a:t>
            </a: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business</a:t>
            </a: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Naturally fits in with multi currency collateralisation of swap trading;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dirty="0" smtClean="0">
                <a:solidFill>
                  <a:schemeClr val="tx2">
                    <a:lumMod val="75000"/>
                  </a:schemeClr>
                </a:solidFill>
              </a:rPr>
              <a:t>Naturally fits in with analytical risk calculation;</a:t>
            </a:r>
          </a:p>
          <a:p>
            <a:pPr marL="0" indent="0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62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GB" sz="180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GB" sz="1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GB" sz="3000" dirty="0" smtClean="0">
                <a:solidFill>
                  <a:schemeClr val="tx2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720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Mizuho">
      <a:dk1>
        <a:srgbClr val="404040"/>
      </a:dk1>
      <a:lt1>
        <a:srgbClr val="FFFFFF"/>
      </a:lt1>
      <a:dk2>
        <a:srgbClr val="140078"/>
      </a:dk2>
      <a:lt2>
        <a:srgbClr val="CCCCCC"/>
      </a:lt2>
      <a:accent1>
        <a:srgbClr val="0A50A0"/>
      </a:accent1>
      <a:accent2>
        <a:srgbClr val="6978B4"/>
      </a:accent2>
      <a:accent3>
        <a:srgbClr val="328C91"/>
      </a:accent3>
      <a:accent4>
        <a:srgbClr val="64AA41"/>
      </a:accent4>
      <a:accent5>
        <a:srgbClr val="825AAA"/>
      </a:accent5>
      <a:accent6>
        <a:srgbClr val="82003C"/>
      </a:accent6>
      <a:hlink>
        <a:srgbClr val="007FBA"/>
      </a:hlink>
      <a:folHlink>
        <a:srgbClr val="007FBA"/>
      </a:folHlink>
    </a:clrScheme>
    <a:fontScheme name="Mizuho 2016">
      <a:majorFont>
        <a:latin typeface="Arial"/>
        <a:ea typeface="MS PGothic"/>
        <a:cs typeface="Arial"/>
      </a:majorFont>
      <a:minorFont>
        <a:latin typeface="Arial"/>
        <a:ea typeface="MS PGothic"/>
        <a:cs typeface="Arial"/>
      </a:minorFont>
    </a:fontScheme>
    <a:fmtScheme name="Mizuho 2016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367047BE0CC846B2A4CDB9B11218B6" ma:contentTypeVersion="0" ma:contentTypeDescription="Create a new document." ma:contentTypeScope="" ma:versionID="b85bea890bdf87bab2efccfca548f44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768A9A-8016-4885-B66B-DC16CB0474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8C87F7-5909-4CDF-B319-66E43D27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6565F9C-8066-45B5-A5F0-E5CF767C8401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1355</TotalTime>
  <Words>794</Words>
  <Application>Microsoft Office PowerPoint</Application>
  <PresentationFormat>A4 Paper (210x297 mm)</PresentationFormat>
  <Paragraphs>182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blank</vt:lpstr>
      <vt:lpstr>Dual-Bootstrapping Curve Building</vt:lpstr>
      <vt:lpstr>A Normal 3M Swap Curve</vt:lpstr>
      <vt:lpstr>What Makes Up a 3M Swap Curve</vt:lpstr>
      <vt:lpstr>What is in a 3M Swap Curve? </vt:lpstr>
      <vt:lpstr>What is in a 3M Swap Curve? </vt:lpstr>
      <vt:lpstr>3M Swap Curve - From Inputs to Outputs</vt:lpstr>
      <vt:lpstr>3M Swap Curve - From Inputs to Outputs</vt:lpstr>
      <vt:lpstr>3M Swap Curve - From Inputs to Outputs</vt:lpstr>
      <vt:lpstr>Global Yield Curve Engine </vt:lpstr>
      <vt:lpstr>Global Yield Curve Engine </vt:lpstr>
      <vt:lpstr>Global Yield Curve Engine </vt:lpstr>
      <vt:lpstr>Global Yield Curve Engine </vt:lpstr>
      <vt:lpstr>Global Yield Curve Engine </vt:lpstr>
      <vt:lpstr>Global Yield Curve Engine </vt:lpstr>
      <vt:lpstr>Global Yield Curve Engine </vt:lpstr>
      <vt:lpstr>Global Yield Curve Engine </vt:lpstr>
      <vt:lpstr>What is dual-bootstrapping? </vt:lpstr>
      <vt:lpstr>Why do we need dual-bootstrapping? </vt:lpstr>
      <vt:lpstr>Why do we need dual-bootstrapping? </vt:lpstr>
      <vt:lpstr>PowerPoint Presentation</vt:lpstr>
    </vt:vector>
  </TitlesOfParts>
  <Company>Mizuho International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Inner Working of Dual-Bootstrapping Curve Building</dc:title>
  <dc:creator>Ye Joseph</dc:creator>
  <cp:lastModifiedBy>Nicholas Burgess</cp:lastModifiedBy>
  <cp:revision>111</cp:revision>
  <cp:lastPrinted>2016-04-27T15:56:17Z</cp:lastPrinted>
  <dcterms:created xsi:type="dcterms:W3CDTF">2018-03-24T09:40:57Z</dcterms:created>
  <dcterms:modified xsi:type="dcterms:W3CDTF">2019-07-12T09:22:00Z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0x01010081367047BE0CC846B2A4CDB9B11218B6</vt:lpwstr>
  </property>
</Properties>
</file>