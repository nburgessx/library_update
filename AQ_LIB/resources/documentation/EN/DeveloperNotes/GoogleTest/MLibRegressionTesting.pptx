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22" r:id="rId1"/>
    <p:sldMasterId id="2147483741" r:id="rId2"/>
  </p:sldMasterIdLst>
  <p:notesMasterIdLst>
    <p:notesMasterId r:id="rId23"/>
  </p:notesMasterIdLst>
  <p:handoutMasterIdLst>
    <p:handoutMasterId r:id="rId24"/>
  </p:handoutMasterIdLst>
  <p:sldIdLst>
    <p:sldId id="256" r:id="rId3"/>
    <p:sldId id="257" r:id="rId4"/>
    <p:sldId id="258" r:id="rId5"/>
    <p:sldId id="271" r:id="rId6"/>
    <p:sldId id="272" r:id="rId7"/>
    <p:sldId id="288" r:id="rId8"/>
    <p:sldId id="282" r:id="rId9"/>
    <p:sldId id="283" r:id="rId10"/>
    <p:sldId id="276" r:id="rId11"/>
    <p:sldId id="277" r:id="rId12"/>
    <p:sldId id="278" r:id="rId13"/>
    <p:sldId id="280" r:id="rId14"/>
    <p:sldId id="279" r:id="rId15"/>
    <p:sldId id="281" r:id="rId16"/>
    <p:sldId id="284" r:id="rId17"/>
    <p:sldId id="285" r:id="rId18"/>
    <p:sldId id="286" r:id="rId19"/>
    <p:sldId id="287" r:id="rId20"/>
    <p:sldId id="289" r:id="rId21"/>
    <p:sldId id="290" r:id="rId22"/>
  </p:sldIdLst>
  <p:sldSz cx="9906000" cy="6858000" type="A4"/>
  <p:notesSz cx="6797675" cy="9926638"/>
  <p:custDataLst>
    <p:tags r:id="rId25"/>
  </p:custDataLst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e.phillips" initials="AM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EFC8E"/>
    <a:srgbClr val="57C206"/>
    <a:srgbClr val="66FF99"/>
    <a:srgbClr val="A0C7F6"/>
    <a:srgbClr val="0A5AA0"/>
    <a:srgbClr val="59B9D7"/>
    <a:srgbClr val="CD5A05"/>
    <a:srgbClr val="328223"/>
    <a:srgbClr val="CD1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1" autoAdjust="0"/>
    <p:restoredTop sz="95665" autoAdjust="0"/>
  </p:normalViewPr>
  <p:slideViewPr>
    <p:cSldViewPr snapToGrid="0" showGuides="1">
      <p:cViewPr>
        <p:scale>
          <a:sx n="100" d="100"/>
          <a:sy n="100" d="100"/>
        </p:scale>
        <p:origin x="-1722" y="-696"/>
      </p:cViewPr>
      <p:guideLst>
        <p:guide orient="horz" pos="2184"/>
        <p:guide orient="horz" pos="684"/>
        <p:guide orient="horz" pos="2278"/>
        <p:guide orient="horz" pos="4149"/>
        <p:guide orient="horz" pos="2981"/>
        <p:guide pos="3120"/>
        <p:guide pos="6016"/>
        <p:guide pos="3063"/>
        <p:guide pos="3176"/>
        <p:guide pos="107"/>
        <p:guide pos="1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-2106" y="-10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2649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625E4-2DF6-4DFA-8E28-5FA9B8137492}" type="datetimeFigureOut">
              <a:rPr lang="en-GB" smtClean="0"/>
              <a:pPr/>
              <a:t>30/11/2015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75A74-DA2A-4783-92EA-8CA253F242F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606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312" y="3227298"/>
            <a:ext cx="6934200" cy="927847"/>
          </a:xfrm>
        </p:spPr>
        <p:txBody>
          <a:bodyPr lIns="0" tIns="36000">
            <a:no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314" y="2812114"/>
            <a:ext cx="6940677" cy="400050"/>
          </a:xfrm>
        </p:spPr>
        <p:txBody>
          <a:bodyPr bIns="36000">
            <a:noAutofit/>
          </a:bodyPr>
          <a:lstStyle>
            <a:lvl1pPr>
              <a:defRPr sz="29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200" cy="599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6" descr="OneMIZUHO英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182" y="6216203"/>
            <a:ext cx="1499220" cy="35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2475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5125" y="268650"/>
            <a:ext cx="6660000" cy="518400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>
              <a:defRPr sz="14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60001" y="1085852"/>
            <a:ext cx="91860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4625" indent="-174625">
              <a:buFont typeface="Wingdings" pitchFamily="2" charset="2"/>
              <a:buChar char="§"/>
              <a:defRPr/>
            </a:lvl1pPr>
            <a:lvl3pPr marL="542925" indent="-180975">
              <a:buFont typeface="Wingdings" pitchFamily="2" charset="2"/>
              <a:buChar char="§"/>
              <a:defRPr/>
            </a:lvl3pPr>
            <a:lvl5pPr marL="895350" indent="-180975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672361" y="6445409"/>
            <a:ext cx="624468" cy="412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ctr">
              <a:spcAft>
                <a:spcPts val="600"/>
              </a:spcAft>
              <a:buClr>
                <a:schemeClr val="accent1"/>
              </a:buClr>
              <a:buFont typeface="Wingdings" pitchFamily="2" charset="2"/>
              <a:buNone/>
            </a:pPr>
            <a:fld id="{CADD8784-5BD2-420D-A1CD-A01FBE4AB2DE}" type="slidenum">
              <a:rPr lang="en-GB" smtClean="0"/>
              <a:pPr marL="171450" indent="-171450" algn="ctr">
                <a:spcAft>
                  <a:spcPts val="600"/>
                </a:spcAft>
                <a:buClr>
                  <a:schemeClr val="accent1"/>
                </a:buClr>
                <a:buFont typeface="Wingdings" pitchFamily="2" charset="2"/>
                <a:buNone/>
              </a:pPr>
              <a:t>‹#›</a:t>
            </a:fld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7629626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llOu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65127" y="1085852"/>
            <a:ext cx="2378075" cy="5032374"/>
          </a:xfr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accent1"/>
                </a:solidFill>
              </a:defRPr>
            </a:lvl1pPr>
            <a:lvl2pPr marL="0" indent="0">
              <a:buNone/>
              <a:defRPr sz="1200" b="1">
                <a:solidFill>
                  <a:schemeClr val="accent1"/>
                </a:solidFill>
              </a:defRPr>
            </a:lvl2pPr>
            <a:lvl3pPr marL="0" indent="0">
              <a:buNone/>
              <a:defRPr sz="1200" b="1">
                <a:solidFill>
                  <a:schemeClr val="accent1"/>
                </a:solidFill>
              </a:defRPr>
            </a:lvl3pPr>
            <a:lvl4pPr marL="0" indent="0">
              <a:buNone/>
              <a:defRPr sz="1200" b="1">
                <a:solidFill>
                  <a:schemeClr val="accent1"/>
                </a:solidFill>
              </a:defRPr>
            </a:lvl4pPr>
            <a:lvl5pPr marL="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2954418" y="1085852"/>
            <a:ext cx="6595984" cy="5032611"/>
          </a:xfrm>
        </p:spPr>
        <p:txBody>
          <a:bodyPr/>
          <a:lstStyle>
            <a:lvl1pPr marL="174625" indent="-174625">
              <a:buFont typeface="Wingdings" pitchFamily="2" charset="2"/>
              <a:buChar char="§"/>
              <a:defRPr/>
            </a:lvl1pPr>
            <a:lvl3pPr marL="542925" indent="-180975">
              <a:buFont typeface="Wingdings" pitchFamily="2" charset="2"/>
              <a:buChar char="§"/>
              <a:defRPr/>
            </a:lvl3pPr>
            <a:lvl5pPr marL="895350" indent="-180975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1080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126" y="1085871"/>
            <a:ext cx="4497388" cy="5032355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4440" y="1085852"/>
            <a:ext cx="4525962" cy="503261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981705" y="6389690"/>
            <a:ext cx="568697" cy="365125"/>
          </a:xfrm>
          <a:prstGeom prst="rect">
            <a:avLst/>
          </a:prstGeom>
        </p:spPr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365127" y="6411992"/>
            <a:ext cx="568697" cy="365125"/>
          </a:xfrm>
          <a:prstGeom prst="rect">
            <a:avLst/>
          </a:prstGeom>
        </p:spPr>
        <p:txBody>
          <a:bodyPr lIns="0" rIns="0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96420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126" y="1085850"/>
            <a:ext cx="4497388" cy="2430000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1900" y="1085850"/>
            <a:ext cx="4508500" cy="2430000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981705" y="6389690"/>
            <a:ext cx="568697" cy="365125"/>
          </a:xfrm>
          <a:prstGeom prst="rect">
            <a:avLst/>
          </a:prstGeom>
        </p:spPr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1"/>
          </p:nvPr>
        </p:nvSpPr>
        <p:spPr>
          <a:xfrm>
            <a:off x="365126" y="3688225"/>
            <a:ext cx="4497388" cy="2430000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41900" y="3688225"/>
            <a:ext cx="4508500" cy="2430000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365127" y="6411992"/>
            <a:ext cx="568697" cy="365125"/>
          </a:xfrm>
          <a:prstGeom prst="rect">
            <a:avLst/>
          </a:prstGeom>
        </p:spPr>
        <p:txBody>
          <a:bodyPr lIns="0" rIns="0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Slide Number Placeholder 2"/>
          <p:cNvSpPr txBox="1">
            <a:spLocks/>
          </p:cNvSpPr>
          <p:nvPr userDrawn="1"/>
        </p:nvSpPr>
        <p:spPr>
          <a:xfrm>
            <a:off x="4668654" y="6467927"/>
            <a:ext cx="568697" cy="365125"/>
          </a:xfrm>
          <a:prstGeom prst="rect">
            <a:avLst/>
          </a:prstGeom>
        </p:spPr>
        <p:txBody>
          <a:bodyPr lIns="0" r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5D5D71-2132-4A0D-A457-AC01235D778F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Arial Unicode MS" pitchFamily="34" charset="-128"/>
                <a:cs typeface="Arial Unicode MS" pitchFamily="34" charset="-128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07713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365127" y="6411992"/>
            <a:ext cx="568697" cy="365125"/>
          </a:xfrm>
          <a:prstGeom prst="rect">
            <a:avLst/>
          </a:prstGeom>
        </p:spPr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Slide Number Placeholder 2"/>
          <p:cNvSpPr txBox="1">
            <a:spLocks/>
          </p:cNvSpPr>
          <p:nvPr userDrawn="1"/>
        </p:nvSpPr>
        <p:spPr>
          <a:xfrm>
            <a:off x="4668654" y="6467927"/>
            <a:ext cx="568697" cy="365125"/>
          </a:xfrm>
          <a:prstGeom prst="rect">
            <a:avLst/>
          </a:prstGeom>
        </p:spPr>
        <p:txBody>
          <a:bodyPr lIns="0" r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5D5D71-2132-4A0D-A457-AC01235D778F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Arial Unicode MS" pitchFamily="34" charset="-128"/>
                <a:cs typeface="Arial Unicode MS" pitchFamily="34" charset="-128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68684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4668654" y="6467927"/>
            <a:ext cx="568697" cy="365125"/>
          </a:xfrm>
        </p:spPr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3430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42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200" cy="599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6" descr="OneMIZUHO英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182" y="6216203"/>
            <a:ext cx="1499220" cy="35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8131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/>
          <p:cNvSpPr txBox="1"/>
          <p:nvPr userDrawn="1"/>
        </p:nvSpPr>
        <p:spPr>
          <a:xfrm>
            <a:off x="4672361" y="6445409"/>
            <a:ext cx="624468" cy="412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ctr">
              <a:spcAft>
                <a:spcPts val="600"/>
              </a:spcAft>
              <a:buClr>
                <a:schemeClr val="accent1"/>
              </a:buClr>
              <a:buFont typeface="Wingdings" pitchFamily="2" charset="2"/>
              <a:buNone/>
            </a:pPr>
            <a:fld id="{CADD8784-5BD2-420D-A1CD-A01FBE4AB2DE}" type="slidenum">
              <a:rPr lang="en-GB" smtClean="0"/>
              <a:pPr marL="171450" indent="-171450" algn="ctr">
                <a:spcAft>
                  <a:spcPts val="600"/>
                </a:spcAft>
                <a:buClr>
                  <a:schemeClr val="accent1"/>
                </a:buClr>
                <a:buFont typeface="Wingdings" pitchFamily="2" charset="2"/>
                <a:buNone/>
              </a:pPr>
              <a:t>‹#›</a:t>
            </a:fld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81742202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17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19552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575" y="1600206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300" y="1600206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365127" y="6411992"/>
            <a:ext cx="568697" cy="365125"/>
          </a:xfrm>
          <a:prstGeom prst="rect">
            <a:avLst/>
          </a:prstGeom>
        </p:spPr>
        <p:txBody>
          <a:bodyPr lIns="0" rIns="0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00873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5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5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920079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Slide Number Placeholder 2"/>
          <p:cNvSpPr txBox="1">
            <a:spLocks/>
          </p:cNvSpPr>
          <p:nvPr userDrawn="1"/>
        </p:nvSpPr>
        <p:spPr>
          <a:xfrm>
            <a:off x="4668654" y="6467927"/>
            <a:ext cx="568697" cy="365125"/>
          </a:xfrm>
          <a:prstGeom prst="rect">
            <a:avLst/>
          </a:prstGeom>
        </p:spPr>
        <p:txBody>
          <a:bodyPr lIns="0" r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5D5D71-2132-4A0D-A457-AC01235D778F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Arial Unicode MS" pitchFamily="34" charset="-128"/>
                <a:cs typeface="Arial Unicode MS" pitchFamily="34" charset="-128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41284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5723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67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035349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76955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485145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80337" y="274655"/>
            <a:ext cx="2414588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6578" y="274655"/>
            <a:ext cx="707866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785709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4275372367"/>
              </p:ext>
            </p:ext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365124" y="270236"/>
            <a:ext cx="6660000" cy="518400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65126" y="1085850"/>
            <a:ext cx="9185275" cy="5033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668654" y="6467927"/>
            <a:ext cx="568697" cy="365125"/>
          </a:xfrm>
          <a:prstGeom prst="rect">
            <a:avLst/>
          </a:prstGeom>
        </p:spPr>
        <p:txBody>
          <a:bodyPr lIns="0" rIns="0"/>
          <a:lstStyle>
            <a:lvl1pPr algn="ctr">
              <a:defRPr sz="700"/>
            </a:lvl1pPr>
          </a:lstStyle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Line 19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365127" y="6389686"/>
            <a:ext cx="9185275" cy="0"/>
          </a:xfrm>
          <a:prstGeom prst="line">
            <a:avLst/>
          </a:prstGeom>
          <a:noFill/>
          <a:ln w="31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 dirty="0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12" name="Picture 16" descr="OneMIZUHO英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538" y="6494548"/>
            <a:ext cx="931862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Mizuho L_0.tmp"/>
          <p:cNvPicPr>
            <a:picLocks noChangeAspect="1"/>
          </p:cNvPicPr>
          <p:nvPr/>
        </p:nvPicPr>
        <p:blipFill>
          <a:blip r:embed="rId17"/>
          <a:srcRect l="16327" t="29994" r="12664" b="23418"/>
          <a:stretch>
            <a:fillRect/>
          </a:stretch>
        </p:blipFill>
        <p:spPr>
          <a:xfrm>
            <a:off x="365127" y="6477293"/>
            <a:ext cx="922594" cy="30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9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24" r:id="rId2"/>
    <p:sldLayoutId id="2147483739" r:id="rId3"/>
    <p:sldLayoutId id="2147483726" r:id="rId4"/>
    <p:sldLayoutId id="2147483737" r:id="rId5"/>
    <p:sldLayoutId id="2147483728" r:id="rId6"/>
    <p:sldLayoutId id="2147483729" r:id="rId7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1400" b="1" kern="1200">
          <a:solidFill>
            <a:srgbClr val="140078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174625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63538" indent="-188913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̶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42925" indent="-180975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14375" indent="-171450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̶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895350" indent="-180975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193E7-4D0A-45EE-8B5B-51647AD76D67}" type="datetimeFigureOut">
              <a:rPr lang="en-GB" smtClean="0"/>
              <a:t>30/11/2015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67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520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 smtClean="0"/>
              <a:t>MLib</a:t>
            </a:r>
            <a:r>
              <a:rPr lang="en-GB" dirty="0" smtClean="0"/>
              <a:t> Regression Testing</a:t>
            </a:r>
            <a:endParaRPr lang="en-GB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30</a:t>
            </a:r>
            <a:r>
              <a:rPr lang="en-GB" baseline="30000" dirty="0" smtClean="0"/>
              <a:t>th</a:t>
            </a:r>
            <a:r>
              <a:rPr lang="en-GB" dirty="0" smtClean="0"/>
              <a:t> November 2015</a:t>
            </a:r>
          </a:p>
          <a:p>
            <a:endParaRPr lang="en-GB" dirty="0"/>
          </a:p>
          <a:p>
            <a:r>
              <a:rPr lang="en-GB" dirty="0" smtClean="0"/>
              <a:t>Andreas </a:t>
            </a:r>
            <a:r>
              <a:rPr lang="en-GB" dirty="0" err="1" smtClean="0"/>
              <a:t>Stirnemann</a:t>
            </a:r>
            <a:r>
              <a:rPr lang="en-GB" dirty="0" smtClean="0"/>
              <a:t>, </a:t>
            </a:r>
            <a:r>
              <a:rPr lang="en-GB" smtClean="0"/>
              <a:t>Tell Consulting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</a:p>
          <a:p>
            <a:r>
              <a:rPr lang="en-GB" dirty="0" smtClean="0"/>
              <a:t>Data Loader</a:t>
            </a:r>
          </a:p>
          <a:p>
            <a:r>
              <a:rPr lang="en-GB" dirty="0" smtClean="0"/>
              <a:t>Call Capture</a:t>
            </a:r>
          </a:p>
          <a:p>
            <a:r>
              <a:rPr lang="en-GB" dirty="0" smtClean="0"/>
              <a:t>Usage Example</a:t>
            </a:r>
          </a:p>
          <a:p>
            <a:r>
              <a:rPr lang="en-GB" dirty="0" smtClean="0"/>
              <a:t>Internals</a:t>
            </a:r>
          </a:p>
          <a:p>
            <a:r>
              <a:rPr lang="en-GB" dirty="0" smtClean="0"/>
              <a:t>Cheat 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25080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Testing is Good </a:t>
            </a:r>
            <a:r>
              <a:rPr lang="en-GB" dirty="0"/>
              <a:t>F</a:t>
            </a:r>
            <a:r>
              <a:rPr lang="en-GB" dirty="0" smtClean="0"/>
              <a:t>or </a:t>
            </a:r>
            <a:r>
              <a:rPr lang="en-GB" dirty="0"/>
              <a:t>Y</a:t>
            </a:r>
            <a:r>
              <a:rPr lang="en-GB" dirty="0" smtClean="0"/>
              <a:t>ou!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Why never enough?</a:t>
            </a:r>
          </a:p>
          <a:p>
            <a:r>
              <a:rPr lang="en-GB" dirty="0" smtClean="0"/>
              <a:t>The tedium of it!</a:t>
            </a:r>
          </a:p>
          <a:p>
            <a:r>
              <a:rPr lang="en-GB" dirty="0"/>
              <a:t>E</a:t>
            </a:r>
            <a:r>
              <a:rPr lang="en-GB" dirty="0" smtClean="0"/>
              <a:t>specially cumbersome: regression tests.</a:t>
            </a:r>
          </a:p>
          <a:p>
            <a:r>
              <a:rPr lang="en-GB" dirty="0" smtClean="0"/>
              <a:t>Two months ago precisely one active test…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94600" y="6356350"/>
            <a:ext cx="2311400" cy="365125"/>
          </a:xfrm>
        </p:spPr>
        <p:txBody>
          <a:bodyPr>
            <a:normAutofit/>
          </a:bodyPr>
          <a:lstStyle/>
          <a:p>
            <a:fld id="{01BE8275-A842-413B-83C3-E212A288B1F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6000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 Test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Old Style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4</a:t>
            </a:fld>
            <a:endParaRPr lang="en-GB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325688"/>
            <a:ext cx="5718175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63" y="5949950"/>
            <a:ext cx="5718175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994025"/>
            <a:ext cx="5718175" cy="183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4986338"/>
            <a:ext cx="571817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35813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Spoonful of Sugar…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Aim: take the pain out of regression testing</a:t>
            </a:r>
          </a:p>
          <a:p>
            <a:r>
              <a:rPr lang="en-GB" dirty="0" smtClean="0"/>
              <a:t>Test Data Loader</a:t>
            </a:r>
          </a:p>
          <a:p>
            <a:r>
              <a:rPr lang="en-GB" dirty="0" smtClean="0"/>
              <a:t>Call Capture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873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 Test (cont.)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New Style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6</a:t>
            </a:fld>
            <a:endParaRPr lang="en-GB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2182813"/>
            <a:ext cx="5929313" cy="426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49860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Loader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CSV Input Layout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9330" y="2152649"/>
            <a:ext cx="6095470" cy="419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56038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Loader (cont.)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Spoonful of Syntactic Sugar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212" y="2574833"/>
            <a:ext cx="5733575" cy="3110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76881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Call Capture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Idea: generate the CSV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077" y="2695573"/>
            <a:ext cx="5898513" cy="407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426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Call Capture (cont.)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10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Enabling in Excel</a:t>
            </a:r>
            <a:endParaRPr lang="en-GB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709863"/>
            <a:ext cx="9659937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50185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Call </a:t>
            </a:r>
            <a:r>
              <a:rPr lang="en-GB" dirty="0" smtClean="0"/>
              <a:t>Capture (cont.)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Enabling in regression executable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11</a:t>
            </a:fld>
            <a:endParaRPr lang="en-GB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2733675"/>
            <a:ext cx="64881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3671888"/>
            <a:ext cx="6402387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3834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Call Capture (cont.)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362082"/>
            <a:ext cx="8915400" cy="1743068"/>
          </a:xfrm>
        </p:spPr>
        <p:txBody>
          <a:bodyPr/>
          <a:lstStyle/>
          <a:p>
            <a:r>
              <a:rPr lang="en-GB" dirty="0" smtClean="0"/>
              <a:t>Enabling at compile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637" y="1967734"/>
            <a:ext cx="5733575" cy="99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47700" y="3038475"/>
            <a:ext cx="8915400" cy="2876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GB" dirty="0" smtClean="0"/>
              <a:t>Instrumentation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913" y="3600450"/>
            <a:ext cx="5718175" cy="2895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53266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Call Capture (cont.)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Array Output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679" y="2390775"/>
            <a:ext cx="6934696" cy="378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6808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Call Capture (cont.)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Enabling Array Output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14</a:t>
            </a:fld>
            <a:endParaRPr lang="en-GB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2257425"/>
            <a:ext cx="8412163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41714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Usage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Swap Par PV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15</a:t>
            </a:fld>
            <a:endParaRPr lang="en-GB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2295525"/>
            <a:ext cx="5929313" cy="397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06944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Internals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Curve Dependencies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16</a:t>
            </a:fld>
            <a:endParaRPr lang="en-GB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14574"/>
            <a:ext cx="8410575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88061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Internals (cont.)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Compile-Time Dependency Graph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17</a:t>
            </a:fld>
            <a:endParaRPr lang="en-GB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135188"/>
            <a:ext cx="5718175" cy="424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6329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Internals (</a:t>
            </a:r>
            <a:r>
              <a:rPr lang="en-GB" dirty="0" err="1" smtClean="0"/>
              <a:t>cont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Pimpl</a:t>
            </a:r>
            <a:r>
              <a:rPr lang="en-GB" dirty="0" smtClean="0"/>
              <a:t> Idiom, Type Erasure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18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62" y="2386012"/>
            <a:ext cx="66960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764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Curve Coverage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List of current curve tests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679" y="2371382"/>
            <a:ext cx="7106642" cy="398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130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Cheat Sheet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smtClean="0"/>
              <a:t>Un-comment #define in </a:t>
            </a:r>
            <a:r>
              <a:rPr lang="en-GB" dirty="0" err="1" smtClean="0"/>
              <a:t>MBPrinterCSV.h</a:t>
            </a:r>
            <a:r>
              <a:rPr lang="en-GB" dirty="0" smtClean="0"/>
              <a:t>.</a:t>
            </a:r>
          </a:p>
          <a:p>
            <a:r>
              <a:rPr lang="en-GB" dirty="0" smtClean="0"/>
              <a:t>Create debug build.</a:t>
            </a:r>
          </a:p>
          <a:p>
            <a:r>
              <a:rPr lang="en-GB" dirty="0" smtClean="0"/>
              <a:t>Start Excel, loading debug build.</a:t>
            </a:r>
          </a:p>
          <a:p>
            <a:r>
              <a:rPr lang="en-GB" dirty="0" smtClean="0"/>
              <a:t>Calculate pricing sheet. </a:t>
            </a:r>
          </a:p>
          <a:p>
            <a:r>
              <a:rPr lang="en-GB" dirty="0" smtClean="0"/>
              <a:t>Delete temp/</a:t>
            </a:r>
            <a:r>
              <a:rPr lang="en-GB" dirty="0" err="1" smtClean="0"/>
              <a:t>mlib</a:t>
            </a:r>
            <a:r>
              <a:rPr lang="en-GB" dirty="0" smtClean="0"/>
              <a:t>/*.*</a:t>
            </a:r>
          </a:p>
          <a:p>
            <a:r>
              <a:rPr lang="en-GB" dirty="0" smtClean="0"/>
              <a:t>Call </a:t>
            </a:r>
            <a:r>
              <a:rPr lang="en-GB" dirty="0" err="1" smtClean="0"/>
              <a:t>mtestSetCallCapture</a:t>
            </a:r>
            <a:r>
              <a:rPr lang="en-GB" dirty="0" smtClean="0"/>
              <a:t>(true).</a:t>
            </a:r>
          </a:p>
          <a:p>
            <a:r>
              <a:rPr lang="en-GB" dirty="0" smtClean="0"/>
              <a:t>Re-calculate cells to be captured.</a:t>
            </a:r>
          </a:p>
          <a:p>
            <a:r>
              <a:rPr lang="en-GB" dirty="0" smtClean="0"/>
              <a:t>Copy files in temp/</a:t>
            </a:r>
            <a:r>
              <a:rPr lang="en-GB" dirty="0" err="1" smtClean="0"/>
              <a:t>mlib</a:t>
            </a:r>
            <a:r>
              <a:rPr lang="en-GB" dirty="0" smtClean="0"/>
              <a:t> to new folder underneath APPL/tests/inputs.</a:t>
            </a:r>
          </a:p>
          <a:p>
            <a:r>
              <a:rPr lang="en-GB" dirty="0" smtClean="0"/>
              <a:t>Create new test by copying and modifying existing test.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60C3-BA7F-4625-ACE0-708D79B9AFC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06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17839&quot;&gt;&lt;version val=&quot;21134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mruColor&gt;&lt;m_vecMRU length=&quot;0&quot;/&gt;&lt;/m_mruColor&gt;&lt;m_mapectfillschemeMRU&gt;&lt;key val=&quot;2&quot;/&gt;&lt;elem&gt;&lt;m_nPartnerID val=&quot;530&quot;/&gt;&lt;m_nIndex val=&quot;2&quot;/&gt;&lt;/elem&gt;&lt;/m_mapectfillschemeMRU&gt;&lt;m_eweekdayFirstOfWeek val=&quot;2&quot;/&gt;&lt;m_eweekdayFirstOfWorkweek val=&quot;2&quot;/&gt;&lt;m_eweekdayFirstOfWeekend val=&quot;7&quot;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.&lt;/m_chDecimalSymbol&gt;&lt;m_nGroupingDigits val=&quot;3&quot;/&gt;&lt;m_chGroupingSymbol&gt;,&lt;/m_chGroupingSymbol&gt;&lt;m_chDecimalSymbol17909&gt;.&lt;/m_chDecimalSymbol17909&gt;&lt;m_nGroupingDigits17909 val=&quot;3&quot;/&gt;&lt;m_chGroupingSymbol17909&gt;,&lt;/m_chGroupingSymbol17909&gt;&lt;/m_precDefault&gt;&lt;/CDefaultPrec&gt;&lt;/root&gt;"/>
  <p:tag name="THINKCELLUNDODONOTDELETE" val="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fOz9rgkN0K4xIzxHz48P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d1ayViE61SRXLaMfgu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Ld6.mg7bkiFCOC8CJRtu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fOz9rgkN0K4xIzxHz48P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d1ayViE61SRXLaMfguw"/>
</p:tagLst>
</file>

<file path=ppt/theme/theme1.xml><?xml version="1.0" encoding="utf-8"?>
<a:theme xmlns:a="http://schemas.openxmlformats.org/drawingml/2006/main" name="blank">
  <a:themeElements>
    <a:clrScheme name="Mizuho">
      <a:dk1>
        <a:srgbClr val="666666"/>
      </a:dk1>
      <a:lt1>
        <a:srgbClr val="FFFFFF"/>
      </a:lt1>
      <a:dk2>
        <a:srgbClr val="002060"/>
      </a:dk2>
      <a:lt2>
        <a:srgbClr val="FFFFFF"/>
      </a:lt2>
      <a:accent1>
        <a:srgbClr val="5096C8"/>
      </a:accent1>
      <a:accent2>
        <a:srgbClr val="283296"/>
      </a:accent2>
      <a:accent3>
        <a:srgbClr val="7030A0"/>
      </a:accent3>
      <a:accent4>
        <a:srgbClr val="C00000"/>
      </a:accent4>
      <a:accent5>
        <a:srgbClr val="CD5A05"/>
      </a:accent5>
      <a:accent6>
        <a:srgbClr val="329664"/>
      </a:accent6>
      <a:hlink>
        <a:srgbClr val="666666"/>
      </a:hlink>
      <a:folHlink>
        <a:srgbClr val="5096C8"/>
      </a:folHlink>
    </a:clrScheme>
    <a:fontScheme name="Mizuho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6350">
          <a:solidFill>
            <a:schemeClr val="bg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dirty="0" smtClean="0">
            <a:latin typeface="Helvetica" pitchFamily="34" charset="0"/>
            <a:cs typeface="Helvetic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marL="171450" indent="-171450" algn="l">
          <a:spcAft>
            <a:spcPts val="600"/>
          </a:spcAft>
          <a:buClr>
            <a:schemeClr val="accent1"/>
          </a:buClr>
          <a:buFont typeface="Wingdings" pitchFamily="2" charset="2"/>
          <a:buChar char="§"/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40390</TotalTime>
  <Words>250</Words>
  <Application>Microsoft Office PowerPoint</Application>
  <PresentationFormat>A4 Paper (210x297 mm)</PresentationFormat>
  <Paragraphs>79</Paragraphs>
  <Slides>20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blank</vt:lpstr>
      <vt:lpstr>Office Theme</vt:lpstr>
      <vt:lpstr>think-cell Slide</vt:lpstr>
      <vt:lpstr>MLib Regression Testing</vt:lpstr>
      <vt:lpstr>Overview</vt:lpstr>
      <vt:lpstr>Testing is Good For You!</vt:lpstr>
      <vt:lpstr>Regression Test</vt:lpstr>
      <vt:lpstr>A Spoonful of Sugar…</vt:lpstr>
      <vt:lpstr>Regression Test (cont.)</vt:lpstr>
      <vt:lpstr>Data Loader</vt:lpstr>
      <vt:lpstr>Data Loader (cont.)</vt:lpstr>
      <vt:lpstr>Call Capture</vt:lpstr>
      <vt:lpstr>Call Capture (cont.)</vt:lpstr>
      <vt:lpstr>Call Capture (cont.)</vt:lpstr>
      <vt:lpstr>Call Capture (cont.)</vt:lpstr>
      <vt:lpstr>Call Capture (cont.)</vt:lpstr>
      <vt:lpstr>Call Capture (cont.)</vt:lpstr>
      <vt:lpstr>Usage Example</vt:lpstr>
      <vt:lpstr>Internals</vt:lpstr>
      <vt:lpstr>Internals (cont.)</vt:lpstr>
      <vt:lpstr>Internals (cont)</vt:lpstr>
      <vt:lpstr>Curve Coverage</vt:lpstr>
      <vt:lpstr>Cheat Sheet</vt:lpstr>
    </vt:vector>
  </TitlesOfParts>
  <Company>Mizuho International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Gardner</dc:creator>
  <cp:lastModifiedBy>Stirnemann Andreas</cp:lastModifiedBy>
  <cp:revision>382</cp:revision>
  <cp:lastPrinted>2015-06-04T14:26:50Z</cp:lastPrinted>
  <dcterms:created xsi:type="dcterms:W3CDTF">2014-09-17T09:19:28Z</dcterms:created>
  <dcterms:modified xsi:type="dcterms:W3CDTF">2015-11-30T09:49:00Z</dcterms:modified>
</cp:coreProperties>
</file>

<file path=userCustomization/customUI.xml><?xml version="1.0" encoding="utf-8"?>
<mso:customUI xmlns:mso="http://schemas.microsoft.com/office/2006/01/customui">
  <mso:ribbon>
    <mso:qat>
      <mso:documentControls>
        <mso:control idQ="mso:SlidesReuseSlides" visible="true"/>
      </mso:documentControls>
    </mso:qat>
  </mso:ribbon>
</mso:customUI>
</file>