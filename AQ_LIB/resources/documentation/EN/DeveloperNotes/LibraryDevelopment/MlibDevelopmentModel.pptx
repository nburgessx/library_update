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22" r:id="rId1"/>
  </p:sldMasterIdLst>
  <p:notesMasterIdLst>
    <p:notesMasterId r:id="rId6"/>
  </p:notesMasterIdLst>
  <p:handoutMasterIdLst>
    <p:handoutMasterId r:id="rId7"/>
  </p:handoutMasterIdLst>
  <p:sldIdLst>
    <p:sldId id="259" r:id="rId2"/>
    <p:sldId id="262" r:id="rId3"/>
    <p:sldId id="263" r:id="rId4"/>
    <p:sldId id="264" r:id="rId5"/>
  </p:sldIdLst>
  <p:sldSz cx="9906000" cy="6858000" type="A4"/>
  <p:notesSz cx="6797675" cy="9926638"/>
  <p:custDataLst>
    <p:tags r:id="rId8"/>
  </p:custDataLst>
  <p:defaultTextStyle>
    <a:defPPr>
      <a:defRPr lang="en-GB"/>
    </a:defPPr>
    <a:lvl1pPr algn="ctr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1pPr>
    <a:lvl2pPr marL="457200" algn="ctr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2pPr>
    <a:lvl3pPr marL="914400" algn="ctr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sz="1100" kern="1200">
        <a:solidFill>
          <a:schemeClr val="tx1"/>
        </a:solidFill>
        <a:latin typeface="Arial" charset="0"/>
        <a:ea typeface="Arial Unicode MS" pitchFamily="34" charset="-128"/>
        <a:cs typeface="Arial Unicode MS" pitchFamily="34" charset="-128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e.phillips" initials="AM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1400"/>
    <a:srgbClr val="328223"/>
    <a:srgbClr val="CD5A05"/>
    <a:srgbClr val="82003C"/>
    <a:srgbClr val="521487"/>
    <a:srgbClr val="1E5A6E"/>
    <a:srgbClr val="0A5AA0"/>
    <a:srgbClr val="666666"/>
    <a:srgbClr val="140078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8634" autoAdjust="0"/>
    <p:restoredTop sz="94607" autoAdjust="0"/>
  </p:normalViewPr>
  <p:slideViewPr>
    <p:cSldViewPr snapToGrid="0" showGuides="1">
      <p:cViewPr varScale="1">
        <p:scale>
          <a:sx n="126" d="100"/>
          <a:sy n="126" d="100"/>
        </p:scale>
        <p:origin x="-882" y="-96"/>
      </p:cViewPr>
      <p:guideLst>
        <p:guide orient="horz" pos="2184"/>
        <p:guide orient="horz" pos="684"/>
        <p:guide orient="horz" pos="2278"/>
        <p:guide orient="horz" pos="4149"/>
        <p:guide orient="horz" pos="2981"/>
        <p:guide pos="3120"/>
        <p:guide pos="6016"/>
        <p:guide pos="3063"/>
        <p:guide pos="3176"/>
        <p:guide pos="107"/>
        <p:guide pos="1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-2106" y="-102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2649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625E4-2DF6-4DFA-8E28-5FA9B8137492}" type="datetimeFigureOut">
              <a:rPr lang="en-GB" smtClean="0"/>
              <a:pPr/>
              <a:t>28/02/2017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75A74-DA2A-4783-92EA-8CA253F242F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7606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6312" y="3227294"/>
            <a:ext cx="6934200" cy="927847"/>
          </a:xfrm>
        </p:spPr>
        <p:txBody>
          <a:bodyPr lIns="0" tIns="36000">
            <a:no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312" y="2812114"/>
            <a:ext cx="6940677" cy="400050"/>
          </a:xfrm>
        </p:spPr>
        <p:txBody>
          <a:bodyPr bIns="36000">
            <a:noAutofit/>
          </a:bodyPr>
          <a:lstStyle>
            <a:lvl1pPr>
              <a:defRPr sz="29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200" cy="599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6" descr="OneMIZUHO英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180" y="6216199"/>
            <a:ext cx="1499220" cy="352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42475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5125" y="268650"/>
            <a:ext cx="6660000" cy="518400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>
            <a:lvl1pPr>
              <a:defRPr sz="14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7" name="Tex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60000" y="1085850"/>
            <a:ext cx="9186000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4625" indent="-174625">
              <a:buFont typeface="Wingdings" pitchFamily="2" charset="2"/>
              <a:buChar char="§"/>
              <a:defRPr/>
            </a:lvl1pPr>
            <a:lvl3pPr marL="542925" indent="-180975">
              <a:buFont typeface="Wingdings" pitchFamily="2" charset="2"/>
              <a:buChar char="§"/>
              <a:defRPr/>
            </a:lvl3pPr>
            <a:lvl5pPr marL="895350" indent="-180975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672361" y="6445405"/>
            <a:ext cx="624468" cy="412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ctr">
              <a:spcAft>
                <a:spcPts val="600"/>
              </a:spcAft>
              <a:buClr>
                <a:schemeClr val="accent1"/>
              </a:buClr>
              <a:buFont typeface="Wingdings" pitchFamily="2" charset="2"/>
              <a:buNone/>
            </a:pPr>
            <a:fld id="{CADD8784-5BD2-420D-A1CD-A01FBE4AB2DE}" type="slidenum">
              <a:rPr lang="en-GB" smtClean="0"/>
              <a:pPr marL="171450" indent="-171450" algn="ctr">
                <a:spcAft>
                  <a:spcPts val="600"/>
                </a:spcAft>
                <a:buClr>
                  <a:schemeClr val="accent1"/>
                </a:buClr>
                <a:buFont typeface="Wingdings" pitchFamily="2" charset="2"/>
                <a:buNone/>
              </a:pPr>
              <a:t>‹#›</a:t>
            </a:fld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7629626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llOut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65125" y="1085852"/>
            <a:ext cx="2378075" cy="5032374"/>
          </a:xfrm>
        </p:spPr>
        <p:txBody>
          <a:bodyPr>
            <a:normAutofit/>
          </a:bodyPr>
          <a:lstStyle>
            <a:lvl1pPr marL="0" indent="0">
              <a:buNone/>
              <a:defRPr sz="1100" b="1">
                <a:solidFill>
                  <a:schemeClr val="accent1"/>
                </a:solidFill>
              </a:defRPr>
            </a:lvl1pPr>
            <a:lvl2pPr marL="0" indent="0">
              <a:buNone/>
              <a:defRPr sz="1200" b="1">
                <a:solidFill>
                  <a:schemeClr val="accent1"/>
                </a:solidFill>
              </a:defRPr>
            </a:lvl2pPr>
            <a:lvl3pPr marL="0" indent="0">
              <a:buNone/>
              <a:defRPr sz="1200" b="1">
                <a:solidFill>
                  <a:schemeClr val="accent1"/>
                </a:solidFill>
              </a:defRPr>
            </a:lvl3pPr>
            <a:lvl4pPr marL="0" indent="0">
              <a:buNone/>
              <a:defRPr sz="1200" b="1">
                <a:solidFill>
                  <a:schemeClr val="accent1"/>
                </a:solidFill>
              </a:defRPr>
            </a:lvl4pPr>
            <a:lvl5pPr marL="0" indent="0">
              <a:buNone/>
              <a:defRPr sz="12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13"/>
          </p:nvPr>
        </p:nvSpPr>
        <p:spPr>
          <a:xfrm>
            <a:off x="2954416" y="1085850"/>
            <a:ext cx="6595984" cy="5032611"/>
          </a:xfrm>
        </p:spPr>
        <p:txBody>
          <a:bodyPr/>
          <a:lstStyle>
            <a:lvl1pPr marL="174625" indent="-174625">
              <a:buFont typeface="Wingdings" pitchFamily="2" charset="2"/>
              <a:buChar char="§"/>
              <a:defRPr/>
            </a:lvl1pPr>
            <a:lvl3pPr marL="542925" indent="-180975">
              <a:buFont typeface="Wingdings" pitchFamily="2" charset="2"/>
              <a:buChar char="§"/>
              <a:defRPr/>
            </a:lvl3pPr>
            <a:lvl5pPr marL="895350" indent="-180975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1080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126" y="1085870"/>
            <a:ext cx="4497388" cy="5032355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4438" y="1085850"/>
            <a:ext cx="4525962" cy="503261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981703" y="6389686"/>
            <a:ext cx="568697" cy="365125"/>
          </a:xfrm>
          <a:prstGeom prst="rect">
            <a:avLst/>
          </a:prstGeom>
        </p:spPr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365125" y="6411988"/>
            <a:ext cx="568697" cy="365125"/>
          </a:xfrm>
          <a:prstGeom prst="rect">
            <a:avLst/>
          </a:prstGeom>
        </p:spPr>
        <p:txBody>
          <a:bodyPr lIns="0" rIns="0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2860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7432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2004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6576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96420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126" y="1085850"/>
            <a:ext cx="4497388" cy="2430000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1900" y="1085850"/>
            <a:ext cx="4508500" cy="2430000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981703" y="6389686"/>
            <a:ext cx="568697" cy="365125"/>
          </a:xfrm>
          <a:prstGeom prst="rect">
            <a:avLst/>
          </a:prstGeom>
        </p:spPr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1"/>
          </p:nvPr>
        </p:nvSpPr>
        <p:spPr>
          <a:xfrm>
            <a:off x="365126" y="3688225"/>
            <a:ext cx="4497388" cy="2430000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41900" y="3688225"/>
            <a:ext cx="4508500" cy="2430000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0" name="Slide Number Placeholder 3"/>
          <p:cNvSpPr txBox="1">
            <a:spLocks/>
          </p:cNvSpPr>
          <p:nvPr userDrawn="1"/>
        </p:nvSpPr>
        <p:spPr>
          <a:xfrm>
            <a:off x="365125" y="6411988"/>
            <a:ext cx="568697" cy="365125"/>
          </a:xfrm>
          <a:prstGeom prst="rect">
            <a:avLst/>
          </a:prstGeom>
        </p:spPr>
        <p:txBody>
          <a:bodyPr lIns="0" rIns="0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2860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7432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2004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657600" algn="l" defTabSz="914400" rtl="0" eaLnBrk="1" latinLnBrk="0" hangingPunct="1">
              <a:defRPr sz="1100" kern="1200">
                <a:solidFill>
                  <a:schemeClr val="tx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Slide Number Placeholder 2"/>
          <p:cNvSpPr txBox="1">
            <a:spLocks/>
          </p:cNvSpPr>
          <p:nvPr userDrawn="1"/>
        </p:nvSpPr>
        <p:spPr>
          <a:xfrm>
            <a:off x="4668651" y="6467923"/>
            <a:ext cx="568697" cy="365125"/>
          </a:xfrm>
          <a:prstGeom prst="rect">
            <a:avLst/>
          </a:prstGeom>
        </p:spPr>
        <p:txBody>
          <a:bodyPr lIns="0" rIns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5D5D71-2132-4A0D-A457-AC01235D778F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Arial Unicode MS" pitchFamily="34" charset="-128"/>
                <a:cs typeface="Arial Unicode MS" pitchFamily="34" charset="-128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07713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365125" y="6411988"/>
            <a:ext cx="568697" cy="365125"/>
          </a:xfrm>
          <a:prstGeom prst="rect">
            <a:avLst/>
          </a:prstGeom>
        </p:spPr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Slide Number Placeholder 2"/>
          <p:cNvSpPr txBox="1">
            <a:spLocks/>
          </p:cNvSpPr>
          <p:nvPr userDrawn="1"/>
        </p:nvSpPr>
        <p:spPr>
          <a:xfrm>
            <a:off x="4668651" y="6467923"/>
            <a:ext cx="568697" cy="365125"/>
          </a:xfrm>
          <a:prstGeom prst="rect">
            <a:avLst/>
          </a:prstGeom>
        </p:spPr>
        <p:txBody>
          <a:bodyPr lIns="0" rIns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5D5D71-2132-4A0D-A457-AC01235D778F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Arial Unicode MS" pitchFamily="34" charset="-128"/>
                <a:cs typeface="Arial Unicode MS" pitchFamily="34" charset="-128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68684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4668651" y="6467923"/>
            <a:ext cx="568697" cy="365125"/>
          </a:xfrm>
        </p:spPr>
        <p:txBody>
          <a:bodyPr/>
          <a:lstStyle/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3430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4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4275372367"/>
              </p:ext>
            </p:ext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0" name="Picture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365124" y="270236"/>
            <a:ext cx="6660000" cy="518400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365124" y="1085850"/>
            <a:ext cx="9185275" cy="5033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4668651" y="6467923"/>
            <a:ext cx="568697" cy="365125"/>
          </a:xfrm>
          <a:prstGeom prst="rect">
            <a:avLst/>
          </a:prstGeom>
        </p:spPr>
        <p:txBody>
          <a:bodyPr lIns="0" rIns="0"/>
          <a:lstStyle>
            <a:lvl1pPr algn="ctr">
              <a:defRPr sz="700"/>
            </a:lvl1pPr>
          </a:lstStyle>
          <a:p>
            <a:fld id="{985D5D71-2132-4A0D-A457-AC01235D778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Line 19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365125" y="6389686"/>
            <a:ext cx="9185275" cy="0"/>
          </a:xfrm>
          <a:prstGeom prst="line">
            <a:avLst/>
          </a:prstGeom>
          <a:noFill/>
          <a:ln w="31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 dirty="0">
              <a:latin typeface="Helvetica" pitchFamily="34" charset="0"/>
              <a:cs typeface="Helvetica" pitchFamily="34" charset="0"/>
            </a:endParaRPr>
          </a:p>
        </p:txBody>
      </p:sp>
      <p:pic>
        <p:nvPicPr>
          <p:cNvPr id="12" name="Picture 16" descr="OneMIZUHO英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538" y="6494544"/>
            <a:ext cx="931862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Mizuho L_0.tmp"/>
          <p:cNvPicPr>
            <a:picLocks noChangeAspect="1"/>
          </p:cNvPicPr>
          <p:nvPr/>
        </p:nvPicPr>
        <p:blipFill>
          <a:blip r:embed="rId17"/>
          <a:srcRect l="16327" t="29994" r="12664" b="23418"/>
          <a:stretch>
            <a:fillRect/>
          </a:stretch>
        </p:blipFill>
        <p:spPr>
          <a:xfrm>
            <a:off x="365125" y="6477293"/>
            <a:ext cx="922594" cy="30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9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24" r:id="rId2"/>
    <p:sldLayoutId id="2147483739" r:id="rId3"/>
    <p:sldLayoutId id="2147483726" r:id="rId4"/>
    <p:sldLayoutId id="2147483737" r:id="rId5"/>
    <p:sldLayoutId id="2147483728" r:id="rId6"/>
    <p:sldLayoutId id="2147483729" r:id="rId7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1400" b="1" kern="1200">
          <a:solidFill>
            <a:srgbClr val="140078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174625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Wingdings" pitchFamily="2" charset="2"/>
        <a:buChar char="§"/>
        <a:defRPr sz="1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63538" indent="-188913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Arial" pitchFamily="34" charset="0"/>
        <a:buChar char="̶"/>
        <a:defRPr sz="1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42925" indent="-180975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Wingdings" pitchFamily="2" charset="2"/>
        <a:buChar char="§"/>
        <a:defRPr sz="1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14375" indent="-171450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Arial" pitchFamily="34" charset="0"/>
        <a:buChar char="̶"/>
        <a:defRPr sz="1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895350" indent="-180975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Wingdings" pitchFamily="2" charset="2"/>
        <a:buChar char="§"/>
        <a:defRPr sz="1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Nicholas Burgess</a:t>
            </a:r>
            <a:endParaRPr lang="en-GB" dirty="0"/>
          </a:p>
          <a:p>
            <a:r>
              <a:rPr lang="en-GB" dirty="0"/>
              <a:t>Mizuho International plc</a:t>
            </a:r>
          </a:p>
          <a:p>
            <a:r>
              <a:rPr lang="en-GB" dirty="0"/>
              <a:t>February </a:t>
            </a:r>
            <a:r>
              <a:rPr lang="en-GB" dirty="0" smtClean="0"/>
              <a:t>2017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46312" y="2812114"/>
            <a:ext cx="7440426" cy="400050"/>
          </a:xfrm>
        </p:spPr>
        <p:txBody>
          <a:bodyPr/>
          <a:lstStyle/>
          <a:p>
            <a:r>
              <a:rPr lang="en-GB" dirty="0" smtClean="0"/>
              <a:t>MLIB Quant Analytics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457003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Mlib</a:t>
            </a:r>
            <a:r>
              <a:rPr lang="en-GB" dirty="0"/>
              <a:t> – Library Structure and Roadmap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smtClean="0"/>
              <a:t>Modular Library Structure</a:t>
            </a:r>
          </a:p>
          <a:p>
            <a:r>
              <a:rPr lang="en-GB" dirty="0"/>
              <a:t>Allows for Collegiate, Organized &amp; Independent Working</a:t>
            </a:r>
          </a:p>
          <a:p>
            <a:r>
              <a:rPr lang="en-GB" dirty="0"/>
              <a:t>Plug &amp; Play: New Components Easy to Add</a:t>
            </a:r>
          </a:p>
          <a:p>
            <a:r>
              <a:rPr lang="en-GB" dirty="0"/>
              <a:t>Addition of an Existing XVA Module under Discussion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smtClean="0"/>
              <a:t>Quant Roadmap </a:t>
            </a:r>
          </a:p>
          <a:p>
            <a:pPr marL="0" indent="0">
              <a:buNone/>
            </a:pPr>
            <a:r>
              <a:rPr lang="en-GB" b="1" dirty="0" smtClean="0"/>
              <a:t>2015</a:t>
            </a:r>
            <a:endParaRPr lang="en-GB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Library On-boarded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Curve Enhancements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b="1" dirty="0" smtClean="0"/>
              <a:t>2016</a:t>
            </a:r>
            <a:endParaRPr lang="en-GB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Major Yield Curve Enhancements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Extend Vanilla </a:t>
            </a:r>
            <a:r>
              <a:rPr lang="en-GB"/>
              <a:t>Product </a:t>
            </a:r>
            <a:r>
              <a:rPr lang="en-GB" smtClean="0"/>
              <a:t>Offering</a:t>
            </a:r>
            <a:r>
              <a:rPr lang="en-GB" dirty="0"/>
              <a:t>, Pricing &amp; Risk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Major Infrastructure Modernization &amp; Refactoring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Added API Support for C#, Java, R &amp; Python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Added Test Harness: 2,000+ Test Cases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b="1" dirty="0" smtClean="0"/>
              <a:t>2017</a:t>
            </a:r>
            <a:endParaRPr lang="en-GB" b="1" dirty="0"/>
          </a:p>
          <a:p>
            <a:r>
              <a:rPr lang="en-GB" dirty="0"/>
              <a:t>Major Restructuring of Library for Global Co-Development</a:t>
            </a:r>
          </a:p>
          <a:p>
            <a:r>
              <a:rPr lang="en-GB" dirty="0"/>
              <a:t>Extended Curve Coverage from 4 to 14 Currencies</a:t>
            </a:r>
          </a:p>
          <a:p>
            <a:r>
              <a:rPr lang="en-GB" dirty="0"/>
              <a:t>Extended Risk Capabilities</a:t>
            </a:r>
          </a:p>
          <a:p>
            <a:r>
              <a:rPr lang="en-GB" dirty="0"/>
              <a:t>Adding Bond Pricing Functionality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63" y="2274663"/>
            <a:ext cx="4068354" cy="3092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974880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MLIB Development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dirty="0" smtClean="0"/>
              <a:t>Initial Development Model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r>
              <a:rPr lang="en-GB" dirty="0"/>
              <a:t>Stable trunk – always in a good state</a:t>
            </a:r>
          </a:p>
          <a:p>
            <a:r>
              <a:rPr lang="en-GB" dirty="0"/>
              <a:t>Branch based development</a:t>
            </a:r>
          </a:p>
          <a:p>
            <a:r>
              <a:rPr lang="en-GB" dirty="0"/>
              <a:t>Manual merge &amp; release process</a:t>
            </a:r>
          </a:p>
          <a:p>
            <a:r>
              <a:rPr lang="en-GB" dirty="0"/>
              <a:t>Monthly release cycle</a:t>
            </a:r>
          </a:p>
          <a:p>
            <a:pPr marL="0" indent="0">
              <a:buNone/>
            </a:pP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dirty="0" smtClean="0"/>
              <a:t>Current Development Model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Fast continuous development on trunk</a:t>
            </a:r>
          </a:p>
          <a:p>
            <a:pPr lvl="1"/>
            <a:r>
              <a:rPr lang="en-GB" dirty="0" err="1"/>
              <a:t>Incredibuild</a:t>
            </a:r>
            <a:r>
              <a:rPr lang="en-GB" dirty="0"/>
              <a:t> speeds up compilation time from hours to minutes</a:t>
            </a:r>
          </a:p>
          <a:p>
            <a:r>
              <a:rPr lang="en-GB" dirty="0"/>
              <a:t>Intra-day / on-demand release cycles (automated)</a:t>
            </a:r>
          </a:p>
          <a:p>
            <a:r>
              <a:rPr lang="en-GB" dirty="0"/>
              <a:t>Developers are responsible to ensure no trunk breakages – good test coverage key to this</a:t>
            </a:r>
          </a:p>
          <a:p>
            <a:pPr lvl="1"/>
            <a:r>
              <a:rPr lang="en-GB" dirty="0"/>
              <a:t>Must immediately revert code causing test breaks</a:t>
            </a:r>
          </a:p>
          <a:p>
            <a:r>
              <a:rPr lang="en-GB" dirty="0"/>
              <a:t>Modular nature of library reduces scenario where developers are simultaneously working on same code</a:t>
            </a:r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93" y="1791015"/>
            <a:ext cx="3768114" cy="1589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837" y="1655048"/>
            <a:ext cx="3917149" cy="1861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4556886" y="1027755"/>
            <a:ext cx="0" cy="505565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ight Arrow 9"/>
          <p:cNvSpPr/>
          <p:nvPr/>
        </p:nvSpPr>
        <p:spPr>
          <a:xfrm>
            <a:off x="4070626" y="989970"/>
            <a:ext cx="1194010" cy="801045"/>
          </a:xfrm>
          <a:prstGeom prst="rightArrow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b="1" dirty="0" smtClean="0">
              <a:latin typeface="Helvetica" pitchFamily="34" charset="0"/>
              <a:cs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31810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MLIB Collaboration and Governance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3603" y="950964"/>
            <a:ext cx="3233480" cy="531725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b="1" dirty="0" smtClean="0"/>
              <a:t>Development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r>
              <a:rPr lang="en-GB" dirty="0" smtClean="0"/>
              <a:t>Regional teams develop remotely on common server</a:t>
            </a:r>
            <a:endParaRPr lang="en-GB" dirty="0"/>
          </a:p>
          <a:p>
            <a:r>
              <a:rPr lang="en-GB" dirty="0" smtClean="0"/>
              <a:t>Development activities are concentrated within each teams own modules</a:t>
            </a:r>
          </a:p>
          <a:p>
            <a:pPr lvl="1"/>
            <a:r>
              <a:rPr lang="en-GB" dirty="0" smtClean="0"/>
              <a:t>Changes to library modules owned by other teams require notification/approval from the owning team</a:t>
            </a:r>
          </a:p>
          <a:p>
            <a:r>
              <a:rPr lang="en-GB" dirty="0" smtClean="0"/>
              <a:t>Code causing test breaks at this stage is immediately reverted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9833" y="950964"/>
            <a:ext cx="2806954" cy="546888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b="1" dirty="0" smtClean="0"/>
              <a:t>Release 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GB" b="1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Common development location means no merging is required prior to release</a:t>
            </a:r>
          </a:p>
          <a:p>
            <a:r>
              <a:rPr lang="en-GB" dirty="0" smtClean="0"/>
              <a:t>Release notes auto-generated from committed code</a:t>
            </a:r>
          </a:p>
          <a:p>
            <a:r>
              <a:rPr lang="en-GB" dirty="0" smtClean="0"/>
              <a:t>Automated pre-release testing tool currently covers ~15% of code base</a:t>
            </a:r>
          </a:p>
          <a:p>
            <a:pPr lvl="1"/>
            <a:r>
              <a:rPr lang="en-GB" dirty="0" smtClean="0"/>
              <a:t>Progressing towards aim for coverage of over 70%</a:t>
            </a:r>
          </a:p>
          <a:p>
            <a:r>
              <a:rPr lang="en-GB" dirty="0" smtClean="0"/>
              <a:t>Stable releases pushed from common repository to local serves</a:t>
            </a:r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5D5D71-2132-4A0D-A457-AC01235D778F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2" name="Content Placeholder 3"/>
          <p:cNvSpPr txBox="1">
            <a:spLocks/>
          </p:cNvSpPr>
          <p:nvPr/>
        </p:nvSpPr>
        <p:spPr>
          <a:xfrm>
            <a:off x="461963" y="950964"/>
            <a:ext cx="2912957" cy="5032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4625" indent="-174625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§"/>
              <a:defRPr sz="11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63538" indent="-188913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itchFamily="34" charset="0"/>
              <a:buChar char="̶"/>
              <a:defRPr sz="11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42925" indent="-180975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§"/>
              <a:defRPr sz="11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14375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itchFamily="34" charset="0"/>
              <a:buChar char="̶"/>
              <a:defRPr sz="11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95350" indent="-180975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§"/>
              <a:defRPr sz="11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Font typeface="Wingdings" pitchFamily="2" charset="2"/>
              <a:buNone/>
            </a:pPr>
            <a:r>
              <a:rPr lang="en-GB" b="1" dirty="0" smtClean="0"/>
              <a:t>Governance</a:t>
            </a:r>
          </a:p>
          <a:p>
            <a:pPr marL="0" indent="0" fontAlgn="auto">
              <a:buFont typeface="Wingdings" pitchFamily="2" charset="2"/>
              <a:buNone/>
            </a:pPr>
            <a:endParaRPr lang="en-GB" b="1" dirty="0" smtClean="0"/>
          </a:p>
          <a:p>
            <a:pPr marL="0" indent="0" fontAlgn="auto">
              <a:buFont typeface="Wingdings" pitchFamily="2" charset="2"/>
              <a:buNone/>
            </a:pPr>
            <a:endParaRPr lang="en-GB" b="1" dirty="0" smtClean="0"/>
          </a:p>
          <a:p>
            <a:pPr marL="0" indent="0" fontAlgn="auto">
              <a:buFont typeface="Wingdings" pitchFamily="2" charset="2"/>
              <a:buNone/>
            </a:pPr>
            <a:endParaRPr lang="en-GB" b="1" dirty="0" smtClean="0"/>
          </a:p>
          <a:p>
            <a:pPr marL="0" indent="0" fontAlgn="auto">
              <a:buFont typeface="Wingdings" pitchFamily="2" charset="2"/>
              <a:buNone/>
            </a:pPr>
            <a:endParaRPr lang="en-GB" b="1" dirty="0" smtClean="0"/>
          </a:p>
          <a:p>
            <a:pPr marL="0" indent="0" fontAlgn="auto">
              <a:buFont typeface="Wingdings" pitchFamily="2" charset="2"/>
              <a:buNone/>
            </a:pPr>
            <a:endParaRPr lang="en-GB" b="1" dirty="0" smtClean="0"/>
          </a:p>
          <a:p>
            <a:pPr marL="0" indent="0" fontAlgn="auto">
              <a:buFont typeface="Wingdings" pitchFamily="2" charset="2"/>
              <a:buNone/>
            </a:pPr>
            <a:endParaRPr lang="en-GB" b="1" dirty="0" smtClean="0"/>
          </a:p>
          <a:p>
            <a:pPr marL="0" indent="0" fontAlgn="auto">
              <a:buFont typeface="Wingdings" pitchFamily="2" charset="2"/>
              <a:buNone/>
            </a:pPr>
            <a:endParaRPr lang="en-GB" b="1" dirty="0" smtClean="0"/>
          </a:p>
          <a:p>
            <a:pPr marL="0" indent="0" fontAlgn="auto">
              <a:buFont typeface="Wingdings" pitchFamily="2" charset="2"/>
              <a:buNone/>
            </a:pPr>
            <a:endParaRPr lang="en-GB" b="1" dirty="0" smtClean="0"/>
          </a:p>
          <a:p>
            <a:pPr marL="0" indent="0" fontAlgn="auto">
              <a:buFont typeface="Wingdings" pitchFamily="2" charset="2"/>
              <a:buNone/>
            </a:pPr>
            <a:endParaRPr lang="en-GB" b="1" dirty="0" smtClean="0"/>
          </a:p>
          <a:p>
            <a:pPr marL="0" indent="0" fontAlgn="auto">
              <a:buFont typeface="Wingdings" pitchFamily="2" charset="2"/>
              <a:buNone/>
            </a:pPr>
            <a:endParaRPr lang="en-GB" b="1" dirty="0" smtClean="0"/>
          </a:p>
          <a:p>
            <a:pPr fontAlgn="auto"/>
            <a:endParaRPr lang="en-GB" dirty="0" smtClean="0"/>
          </a:p>
          <a:p>
            <a:pPr fontAlgn="auto"/>
            <a:endParaRPr lang="en-GB" dirty="0"/>
          </a:p>
          <a:p>
            <a:pPr fontAlgn="auto"/>
            <a:endParaRPr lang="en-GB" dirty="0" smtClean="0"/>
          </a:p>
          <a:p>
            <a:pPr fontAlgn="auto"/>
            <a:r>
              <a:rPr lang="en-GB" dirty="0" smtClean="0"/>
              <a:t>Quant strategy/direction and releases are discussed at a bi-weekly VC</a:t>
            </a:r>
          </a:p>
          <a:p>
            <a:pPr fontAlgn="auto"/>
            <a:r>
              <a:rPr lang="en-GB" dirty="0" smtClean="0"/>
              <a:t>Tokyo library master acts as an arbitrator in the event of a dispute and makes final decisions</a:t>
            </a:r>
          </a:p>
          <a:p>
            <a:pPr fontAlgn="auto"/>
            <a:r>
              <a:rPr lang="en-GB" dirty="0" smtClean="0"/>
              <a:t>Costs for MLIB development are currently borne independently by each region</a:t>
            </a: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309688"/>
            <a:ext cx="7848600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70031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17839&quot;&gt;&lt;version val=&quot;21134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mruColor&gt;&lt;m_vecMRU length=&quot;0&quot;/&gt;&lt;/m_mruColor&gt;&lt;m_mapectfillschemeMRU&gt;&lt;key val=&quot;2&quot;/&gt;&lt;elem&gt;&lt;m_nPartnerID val=&quot;530&quot;/&gt;&lt;m_nIndex val=&quot;2&quot;/&gt;&lt;/elem&gt;&lt;/m_mapectfillschemeMRU&gt;&lt;m_eweekdayFirstOfWeek val=&quot;2&quot;/&gt;&lt;m_eweekdayFirstOfWorkweek val=&quot;2&quot;/&gt;&lt;m_eweekdayFirstOfWeekend val=&quot;7&quot;/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.&lt;/m_chDecimalSymbol&gt;&lt;m_nGroupingDigits val=&quot;3&quot;/&gt;&lt;m_chGroupingSymbol&gt;,&lt;/m_chGroupingSymbol&gt;&lt;m_chDecimalSymbol17909&gt;.&lt;/m_chDecimalSymbol17909&gt;&lt;m_nGroupingDigits17909 val=&quot;3&quot;/&gt;&lt;m_chGroupingSymbol17909&gt;,&lt;/m_chGroupingSymbol17909&gt;&lt;/m_precDefault&gt;&lt;/CDefaultPrec&gt;&lt;/root&gt;"/>
  <p:tag name="THINKCELLUNDODONOTDELETE" val="1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fOz9rgkN0K4xIzxHz48P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d1ayViE61SRXLaMfgu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Ld6.mg7bkiFCOC8CJRtu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fOz9rgkN0K4xIzxHz48P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d1ayViE61SRXLaMfguw"/>
</p:tagLst>
</file>

<file path=ppt/theme/theme1.xml><?xml version="1.0" encoding="utf-8"?>
<a:theme xmlns:a="http://schemas.openxmlformats.org/drawingml/2006/main" name="blank">
  <a:themeElements>
    <a:clrScheme name="Mizuho">
      <a:dk1>
        <a:srgbClr val="666666"/>
      </a:dk1>
      <a:lt1>
        <a:srgbClr val="FFFFFF"/>
      </a:lt1>
      <a:dk2>
        <a:srgbClr val="002060"/>
      </a:dk2>
      <a:lt2>
        <a:srgbClr val="FFFFFF"/>
      </a:lt2>
      <a:accent1>
        <a:srgbClr val="5096C8"/>
      </a:accent1>
      <a:accent2>
        <a:srgbClr val="283296"/>
      </a:accent2>
      <a:accent3>
        <a:srgbClr val="7030A0"/>
      </a:accent3>
      <a:accent4>
        <a:srgbClr val="C00000"/>
      </a:accent4>
      <a:accent5>
        <a:srgbClr val="CD5A05"/>
      </a:accent5>
      <a:accent6>
        <a:srgbClr val="329664"/>
      </a:accent6>
      <a:hlink>
        <a:srgbClr val="666666"/>
      </a:hlink>
      <a:folHlink>
        <a:srgbClr val="5096C8"/>
      </a:folHlink>
    </a:clrScheme>
    <a:fontScheme name="Mizuho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6350">
          <a:solidFill>
            <a:schemeClr val="bg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dirty="0" smtClean="0">
            <a:latin typeface="Helvetica" pitchFamily="34" charset="0"/>
            <a:cs typeface="Helvetica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marL="171450" indent="-171450" algn="l">
          <a:spcAft>
            <a:spcPts val="600"/>
          </a:spcAft>
          <a:buClr>
            <a:schemeClr val="accent1"/>
          </a:buClr>
          <a:buFont typeface="Wingdings" pitchFamily="2" charset="2"/>
          <a:buChar char="§"/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213</TotalTime>
  <Words>333</Words>
  <Application>Microsoft Office PowerPoint</Application>
  <PresentationFormat>A4 Paper (210x297 mm)</PresentationFormat>
  <Paragraphs>120</Paragraphs>
  <Slides>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blank</vt:lpstr>
      <vt:lpstr>think-cell Slide</vt:lpstr>
      <vt:lpstr>MLIB Quant Analytics </vt:lpstr>
      <vt:lpstr>Mlib – Library Structure and Roadmap </vt:lpstr>
      <vt:lpstr>MLIB Development Model</vt:lpstr>
      <vt:lpstr>MLIB Collaboration and Governance</vt:lpstr>
    </vt:vector>
  </TitlesOfParts>
  <Company>Mizuho International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Mlib – Initial development model</dc:title>
  <dc:creator>Mark Gardner</dc:creator>
  <cp:lastModifiedBy>Nicholas Burgess</cp:lastModifiedBy>
  <cp:revision>16</cp:revision>
  <dcterms:created xsi:type="dcterms:W3CDTF">2017-02-16T14:22:12Z</dcterms:created>
  <dcterms:modified xsi:type="dcterms:W3CDTF">2017-02-28T17:40:34Z</dcterms:modified>
</cp:coreProperties>
</file>

<file path=userCustomization/customUI.xml><?xml version="1.0" encoding="utf-8"?>
<mso:customUI xmlns:mso="http://schemas.microsoft.com/office/2006/01/customui">
  <mso:ribbon>
    <mso:qat>
      <mso:documentControls>
        <mso:control idQ="mso:SlidesReuseSlides" visible="true"/>
      </mso:documentControls>
    </mso:qat>
  </mso:ribbon>
</mso:customUI>
</file>